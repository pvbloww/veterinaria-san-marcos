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f17785c5bd047d1" /><Relationship Type="http://schemas.openxmlformats.org/officeDocument/2006/relationships/extended-properties" Target="/docProps/app.xml" Id="R43fe0c29eb554614" /><Relationship Type="http://schemas.openxmlformats.org/officeDocument/2006/relationships/officeDocument" Target="/ppt/presentation.xml" Id="R04446041434f4d68" /></Relationships>
</file>

<file path=ppt/presentation.xml><?xml version="1.0" encoding="utf-8"?>
<p:presentation xmlns:p="http://schemas.openxmlformats.org/presentationml/2006/main">
  <p:sldMasterIdLst>
    <p:sldMasterId xmlns:r="http://schemas.openxmlformats.org/officeDocument/2006/relationships" id="2147483648" r:id="Ra865fa018166462e"/>
  </p:sldMasterIdLst>
  <p:notesMasterIdLst>
    <p:notesMasterId xmlns:r="http://schemas.openxmlformats.org/officeDocument/2006/relationships" r:id="Rb3bb04a399fe429c"/>
  </p:notesMasterIdLst>
  <p:sldIdLst>
    <p:sldId xmlns:r="http://schemas.openxmlformats.org/officeDocument/2006/relationships" id="256" r:id="Rd420db5e903f467f"/>
    <p:sldId xmlns:r="http://schemas.openxmlformats.org/officeDocument/2006/relationships" id="257" r:id="Ra572ec91ea444ae8"/>
    <p:sldId xmlns:r="http://schemas.openxmlformats.org/officeDocument/2006/relationships" id="258" r:id="R2219509e581947e3"/>
    <p:sldId xmlns:r="http://schemas.openxmlformats.org/officeDocument/2006/relationships" id="259" r:id="Rb9e5d7a303fe4e32"/>
    <p:sldId xmlns:r="http://schemas.openxmlformats.org/officeDocument/2006/relationships" id="260" r:id="R40632184f2d54eef"/>
    <p:sldId xmlns:r="http://schemas.openxmlformats.org/officeDocument/2006/relationships" id="261" r:id="R73451ea773fb411f"/>
    <p:sldId xmlns:r="http://schemas.openxmlformats.org/officeDocument/2006/relationships" id="262" r:id="R41ee961a403f4a51"/>
    <p:sldId xmlns:r="http://schemas.openxmlformats.org/officeDocument/2006/relationships" id="263" r:id="R1ad14ee42bb246c7"/>
    <p:sldId xmlns:r="http://schemas.openxmlformats.org/officeDocument/2006/relationships" id="264" r:id="R65070449170e4622"/>
    <p:sldId xmlns:r="http://schemas.openxmlformats.org/officeDocument/2006/relationships" id="265" r:id="Rc5ca3a6bce2147e0"/>
    <p:sldId xmlns:r="http://schemas.openxmlformats.org/officeDocument/2006/relationships" id="266" r:id="Re72932e6a6814e98"/>
    <p:sldId xmlns:r="http://schemas.openxmlformats.org/officeDocument/2006/relationships" id="267" r:id="R93afd8daf9af4d9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ea4443d95e94466" /><Relationship Type="http://schemas.openxmlformats.org/officeDocument/2006/relationships/slideMaster" Target="/ppt/slideMasters/slideMaster1.xml" Id="Ra865fa018166462e" /><Relationship Type="http://schemas.openxmlformats.org/officeDocument/2006/relationships/notesMaster" Target="/ppt/notesMasters/notesMaster1.xml" Id="Rb3bb04a399fe429c" /><Relationship Type="http://schemas.openxmlformats.org/officeDocument/2006/relationships/presProps" Target="/ppt/presProps.xml" Id="R5d69984da8ea4722" /><Relationship Type="http://schemas.openxmlformats.org/officeDocument/2006/relationships/tableStyles" Target="/ppt/tableStyles.xml" Id="Rb39c98e581ce4438" /><Relationship Type="http://schemas.openxmlformats.org/officeDocument/2006/relationships/slide" Target="/ppt/slides/slide1.xml" Id="Rd420db5e903f467f" /><Relationship Type="http://schemas.openxmlformats.org/officeDocument/2006/relationships/slide" Target="/ppt/slides/slide2.xml" Id="Ra572ec91ea444ae8" /><Relationship Type="http://schemas.openxmlformats.org/officeDocument/2006/relationships/slide" Target="/ppt/slides/slide3.xml" Id="R2219509e581947e3" /><Relationship Type="http://schemas.openxmlformats.org/officeDocument/2006/relationships/slide" Target="/ppt/slides/slide4.xml" Id="Rb9e5d7a303fe4e32" /><Relationship Type="http://schemas.openxmlformats.org/officeDocument/2006/relationships/slide" Target="/ppt/slides/slide5.xml" Id="R40632184f2d54eef" /><Relationship Type="http://schemas.openxmlformats.org/officeDocument/2006/relationships/slide" Target="/ppt/slides/slide6.xml" Id="R73451ea773fb411f" /><Relationship Type="http://schemas.openxmlformats.org/officeDocument/2006/relationships/slide" Target="/ppt/slides/slide7.xml" Id="R41ee961a403f4a51" /><Relationship Type="http://schemas.openxmlformats.org/officeDocument/2006/relationships/slide" Target="/ppt/slides/slide8.xml" Id="R1ad14ee42bb246c7" /><Relationship Type="http://schemas.openxmlformats.org/officeDocument/2006/relationships/slide" Target="/ppt/slides/slide9.xml" Id="R65070449170e4622" /><Relationship Type="http://schemas.openxmlformats.org/officeDocument/2006/relationships/slide" Target="/ppt/slides/slide10.xml" Id="Rc5ca3a6bce2147e0" /><Relationship Type="http://schemas.openxmlformats.org/officeDocument/2006/relationships/slide" Target="/ppt/slides/slide11.xml" Id="Re72932e6a6814e98" /><Relationship Type="http://schemas.openxmlformats.org/officeDocument/2006/relationships/slide" Target="/ppt/slides/slide12.xml" Id="R93afd8daf9af4d9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5794c38c4934b0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726ba1e8dac478e" /><Relationship Type="http://schemas.openxmlformats.org/officeDocument/2006/relationships/notesMaster" Target="/ppt/notesMasters/notesMaster1.xml" Id="Rbbbbb03e087b4912" /></Relationships>
</file>

<file path=ppt/notesSlides/_rels/notesSlide2.xml.rels>&#65279;<?xml version="1.0" encoding="utf-8"?><Relationships xmlns="http://schemas.openxmlformats.org/package/2006/relationships"><Relationship Type="http://schemas.openxmlformats.org/officeDocument/2006/relationships/slide" Target="/ppt/slides/slide2.xml" Id="R9dbf6aebbc604da2" /><Relationship Type="http://schemas.openxmlformats.org/officeDocument/2006/relationships/notesMaster" Target="/ppt/notesMasters/notesMaster1.xml" Id="Rcbd0c075053b4e94" /></Relationships>
</file>

<file path=ppt/notesSlides/_rels/notesSlide3.xml.rels>&#65279;<?xml version="1.0" encoding="utf-8"?><Relationships xmlns="http://schemas.openxmlformats.org/package/2006/relationships"><Relationship Type="http://schemas.openxmlformats.org/officeDocument/2006/relationships/slide" Target="/ppt/slides/slide3.xml" Id="R48fc59e4a8d5441c" /><Relationship Type="http://schemas.openxmlformats.org/officeDocument/2006/relationships/notesMaster" Target="/ppt/notesMasters/notesMaster1.xml" Id="R0a400757dc024367" /></Relationships>
</file>

<file path=ppt/notesSlides/_rels/notesSlide4.xml.rels>&#65279;<?xml version="1.0" encoding="utf-8"?><Relationships xmlns="http://schemas.openxmlformats.org/package/2006/relationships"><Relationship Type="http://schemas.openxmlformats.org/officeDocument/2006/relationships/slide" Target="/ppt/slides/slide4.xml" Id="R0250e7b1a80545f0" /><Relationship Type="http://schemas.openxmlformats.org/officeDocument/2006/relationships/notesMaster" Target="/ppt/notesMasters/notesMaster1.xml" Id="Rf9d7695d7e3d4ddf" /></Relationships>
</file>

<file path=ppt/notesSlides/_rels/notesSlide5.xml.rels>&#65279;<?xml version="1.0" encoding="utf-8"?><Relationships xmlns="http://schemas.openxmlformats.org/package/2006/relationships"><Relationship Type="http://schemas.openxmlformats.org/officeDocument/2006/relationships/slide" Target="/ppt/slides/slide5.xml" Id="R4559d22378934b60" /><Relationship Type="http://schemas.openxmlformats.org/officeDocument/2006/relationships/notesMaster" Target="/ppt/notesMasters/notesMaster1.xml" Id="R3d0ecc67c8444302" /></Relationships>
</file>

<file path=ppt/notesSlides/_rels/notesSlide6.xml.rels>&#65279;<?xml version="1.0" encoding="utf-8"?><Relationships xmlns="http://schemas.openxmlformats.org/package/2006/relationships"><Relationship Type="http://schemas.openxmlformats.org/officeDocument/2006/relationships/slide" Target="/ppt/slides/slide6.xml" Id="Rab4c00eb6c694a72" /><Relationship Type="http://schemas.openxmlformats.org/officeDocument/2006/relationships/notesMaster" Target="/ppt/notesMasters/notesMaster1.xml" Id="Rf450c9888bdc4cbd" /></Relationships>
</file>

<file path=ppt/notesSlides/_rels/notesSlide7.xml.rels>&#65279;<?xml version="1.0" encoding="utf-8"?><Relationships xmlns="http://schemas.openxmlformats.org/package/2006/relationships"><Relationship Type="http://schemas.openxmlformats.org/officeDocument/2006/relationships/slide" Target="/ppt/slides/slide7.xml" Id="R531a7599c9264651" /><Relationship Type="http://schemas.openxmlformats.org/officeDocument/2006/relationships/notesMaster" Target="/ppt/notesMasters/notesMaster1.xml" Id="R014daf162a544dee" /></Relationships>
</file>

<file path=ppt/notesSlides/_rels/notesSlide8.xml.rels>&#65279;<?xml version="1.0" encoding="utf-8"?><Relationships xmlns="http://schemas.openxmlformats.org/package/2006/relationships"><Relationship Type="http://schemas.openxmlformats.org/officeDocument/2006/relationships/slide" Target="/ppt/slides/slide8.xml" Id="Rcd49979d25e84e96" /><Relationship Type="http://schemas.openxmlformats.org/officeDocument/2006/relationships/notesMaster" Target="/ppt/notesMasters/notesMaster1.xml" Id="R0caeb73a192c4e48" /></Relationships>
</file>

<file path=ppt/notesSlides/_rels/notesSlide9.xml.rels>&#65279;<?xml version="1.0" encoding="utf-8"?><Relationships xmlns="http://schemas.openxmlformats.org/package/2006/relationships"><Relationship Type="http://schemas.openxmlformats.org/officeDocument/2006/relationships/slide" Target="/ppt/slides/slide9.xml" Id="R05fa8185c24043fe" /><Relationship Type="http://schemas.openxmlformats.org/officeDocument/2006/relationships/notesMaster" Target="/ppt/notesMasters/notesMaster1.xml" Id="R9f906b32ba174c6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d3a7c2be52443d9" /><Relationship Type="http://schemas.openxmlformats.org/officeDocument/2006/relationships/notesMaster" Target="/ppt/notesMasters/notesMaster1.xml" Id="R2ee6d3a98505486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af24551838e448f6" /><Relationship Type="http://schemas.openxmlformats.org/officeDocument/2006/relationships/notesMaster" Target="/ppt/notesMasters/notesMaster1.xml" Id="R0feb07454d574dfb"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43e088b8eb3243a8" /><Relationship Type="http://schemas.openxmlformats.org/officeDocument/2006/relationships/notesMaster" Target="/ppt/notesMasters/notesMaster1.xml" Id="R4b1b41693f7542a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Buenos días. Somos el equipo del proyecto Veterinaria San Marcos. Nuestra propuesta es una tienda web que permite conocer la oferta de la clínica y preparar una compra desde un mismo sitio. Hoy presentamos un prototipo frontend: mostraremos el valor para el cliente, las funciones disponibles y cómo puede evolucionar hacia una solución completa. La idea es explicar por qué la clínica necesitaría este programa y demostrar con un recorrido concreto lo que ya hace. Tiempo sugerido: 30 segundos.</a:t>
            </a:r>
          </a:p>
          <a:p xmlns:a="http://schemas.openxmlformats.org/drawingml/2006/main">
            <a:r>
              <a:t/>
            </a:r>
          </a:p>
          <a:p xmlns:a="http://schemas.openxmlformats.org/drawingml/2006/main">
            <a:r>
              <a:t>Fuente: veterinaria-san-marcos (2).zip, proyecto entregado por el equipo. index.html. Ilustración conceptual creada para la presentación, no representa una fotografía de la clínica.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 caso describe una clínica que atiende alrededor de 25 pacientes diarios. La agenda física y las fichas en papel generan problemas: un 20 % de inasistencia y cuatro fichas perdidas en seis meses. Estos datos muestran una necesidad más amplia de digitalización. Nuestra entrega actual comienza por la relación comercial: permite conocer productos y servicios y recorrer una compra. La agenda clínica y las fichas digitales pertenecen a otra etapa. Estas cifras describen el problema original, no resultados obtenidos por nuestra aplicación. Tiempo sugerido: 40 segundos.</a:t>
            </a:r>
          </a:p>
          <a:p xmlns:a="http://schemas.openxmlformats.org/drawingml/2006/main">
            <a:r>
              <a:t/>
            </a:r>
          </a:p>
          <a:p xmlns:a="http://schemas.openxmlformats.org/drawingml/2006/main">
            <a:r>
              <a:t>Fuente: DSY1104 - Forma A - Veterinaria San Marcos.docx, secciones 1 y 3.3. Alcance actual: ZIP entregado.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Proponemos un sitio que reúna la información comercial de la veterinaria y permita al dueño explorar el catálogo antes de comprar. Para el cliente, el valor está en encontrar precios y preparar su selección. Para la clínica, el panel muestra cómo administrar los datos del negocio. Hay dos experiencias que se complementan: la tienda para el público y la administración interna. En esta entrega, los datos administrativos se guardan localmente y todavía no se sincronizan con el catálogo de la tienda. Tiempo sugerido: 35 segundos.</a:t>
            </a:r>
          </a:p>
          <a:p xmlns:a="http://schemas.openxmlformats.org/drawingml/2006/main">
            <a:r>
              <a:t/>
            </a:r>
          </a:p>
          <a:p xmlns:a="http://schemas.openxmlformats.org/drawingml/2006/main">
            <a:r>
              <a:t>Fuente: veterinaria-san-marcos (2).zip, proyecto entregado por el equipo. productos.html, carrito.html, admin/ y js/admin.js.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 catálogo del prototipo contiene 12 registros repartidos en siete categorías. El usuario puede filtrar por categoría, abrir un producto y revisar su descripción, precio y stock de demostración. Aquí mostramos tres ejemplos reales del archivo JavaScript. El beneficio es que la información comercial queda disponible en un recorrido sencillo. Este catálogo es una muestra del prototipo, no la carga completa del Excel del caso. Las descripciones clínicas y los precios deberán validarse con la veterinaria antes de utilizar el sistema con clientes reales. Tiempo sugerido: 40 segundos.</a:t>
            </a:r>
          </a:p>
          <a:p xmlns:a="http://schemas.openxmlformats.org/drawingml/2006/main">
            <a:r>
              <a:t/>
            </a:r>
          </a:p>
          <a:p xmlns:a="http://schemas.openxmlformats.org/drawingml/2006/main">
            <a:r>
              <a:t>Fuente: veterinaria-san-marcos (2).zip, proyecto entregado por el equipo. js/productos.js, listaProductos, mostrarFiltros y mostrarDetalleProducto.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 carrito permite sumar productos, cambiar cantidades, eliminar elementos y ver el total calculado. Por ejemplo, dos shampoo de 8.900 pesos suman 17.800. Con un corte de uñas de 5.000, el total es 22.800 pesos. La selección permanece al recargar la página porque el prototipo utiliza localStorage. Esto permite demostrar el recorrido comercial. El botón Pagar solo muestra una confirmación de ejemplo y vacía el carrito: no hay pasarela de pago, pedido guardado en servidor ni cobro real. El campo cupón todavía no aplica descuentos. Tiempo sugerido: 45 segundos.</a:t>
            </a:r>
          </a:p>
          <a:p xmlns:a="http://schemas.openxmlformats.org/drawingml/2006/main">
            <a:r>
              <a:t/>
            </a:r>
          </a:p>
          <a:p xmlns:a="http://schemas.openxmlformats.org/drawingml/2006/main">
            <a:r>
              <a:t>Fuente: veterinaria-san-marcos (2).zip, proyecto entregado por el equipo. js/productos.js y js/carrito.js. Ejemplo aritmético: 2 × 8.900 + 1 × 5.000 = 22.800 CLP.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Los formularios entregan retroalimentación junto al campo para ayudar a corregir los datos antes de continuar. El registro comprueba campos obligatorios y la coincidencia de contraseñas. Los selectores de región y comuna están relacionados y utilizan una lista de ejemplo de cinco regiones. El contacto valida nombre, correo y comentario. Es importante distinguir validación de autenticación: el inicio de sesión todavía no verifica una cuenta real ni genera una sesión protegida. El registro y contacto muestran mensajes de demostración y no guardan o envían esos datos a un servidor. Tiempo sugerido: 40 segundos.</a:t>
            </a:r>
          </a:p>
          <a:p xmlns:a="http://schemas.openxmlformats.org/drawingml/2006/main">
            <a:r>
              <a:t/>
            </a:r>
          </a:p>
          <a:p xmlns:a="http://schemas.openxmlformats.org/drawingml/2006/main">
            <a:r>
              <a:t>Fuente: veterinaria-san-marcos (2).zip, proyecto entregado por el equipo. js/validaciones.js, js/regiones.js, registro.html, login.html y contacto.html.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parte administrativa permite mantener los productos y usuarios sin editar manualmente el archivo en cada demostración. Incluye crear, editar, eliminar y buscar. También compara el stock con un umbral configurado y muestra una alerta de stock crítico. El resumen presenta los conteos. Actualmente guarda cambios en localStorage. Los productos modificados en el panel no actualizan automáticamente el arreglo de la tienda, y las etiquetas de tipo de usuario no implementan permisos seguros. Un backend y la autenticación permitirán convertir esta demostración en una operación compartida. Tiempo sugerido: 45 segundos.</a:t>
            </a:r>
          </a:p>
          <a:p xmlns:a="http://schemas.openxmlformats.org/drawingml/2006/main">
            <a:r>
              <a:t/>
            </a:r>
          </a:p>
          <a:p xmlns:a="http://schemas.openxmlformats.org/drawingml/2006/main">
            <a:r>
              <a:t>Fuente: veterinaria-san-marcos (2).zip, proyecto entregado por el equipo. admin/index.html, admin/productos.html, admin/usuarios.html y js/admin.js.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 proyecto incluye estilos que adaptan el menú y la distribución de contenido para pantallas pequeñas. Esto permite plantear una experiencia de uso desde computador, tablet o teléfono. La navegación también incorpora páginas sobre la clínica, publicaciones del blog y contacto. Hay un mapa incrustado de OpenStreetMap centrado en Rancagua. La ubicación exacta debe validarse con la clínica y no se debe presentar como un sistema de rutas desde la ubicación del usuario. Durante la demo conviene reducir el ancho de la ventana y mostrar el menú móvil. Tiempo sugerido: 35 segundos.</a:t>
            </a:r>
          </a:p>
          <a:p xmlns:a="http://schemas.openxmlformats.org/drawingml/2006/main">
            <a:r>
              <a:t/>
            </a:r>
          </a:p>
          <a:p xmlns:a="http://schemas.openxmlformats.org/drawingml/2006/main">
            <a:r>
              <a:t>Fuente: veterinaria-san-marcos (2).zip, proyecto entregado por el equipo. css/styles.css, css/admin.css, js/main.js, nosotros.html, blogs.html y contacto.html. Reglas responsive a 780 y 600 px.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Nuestro argumento de valor se apoya en la experiencia que ofrece el prototipo. Un catálogo ayuda a hacer visible la oferta. El carrito entrega claridad sobre la selección y el total. El panel organiza las tareas de mantenimiento. Además, el prototipo permite conversar con la clínica y validar el recorrido antes de incorporar integraciones más complejas. Estos son beneficios esperados, no resultados medidos. Todavía no podemos afirmar una reducción de tiempos, de inasistencias ni un aumento de ventas. Esas mejoras deben comprobarse en un piloto. Tiempo sugerido: 35 segundos.</a:t>
            </a:r>
          </a:p>
          <a:p xmlns:a="http://schemas.openxmlformats.org/drawingml/2006/main">
            <a:r>
              <a:t/>
            </a:r>
          </a:p>
          <a:p xmlns:a="http://schemas.openxmlformats.org/drawingml/2006/main">
            <a:r>
              <a:t>Fuente: veterinaria-san-marcos (2).zip, proyecto entregado por el equipo. Síntesis de valor propuesta a partir de catálogo, carrito y panel. No existen métricas de impacto real en el material entregado.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Esta lámina conecta la entrega actual con el sistema que queremos construir. El ZIP contiene HTML, CSS y JavaScript, no una aplicación React ni un backend Spring Boot. El próximo paso consiste en migrar la interfaz al stack requerido, conectar bases de datos y aplicar autenticación y roles en servidor. También debemos sincronizar la administración con la tienda. Después se incorporan los flujos clínicos definidos en la ERS, como solicitudes de citas, fichas, vacunas y recordatorios. El despliegue AWS con Docker forma parte de ese trabajo pendiente. Tiempo sugerido: 45 segundos.</a:t>
            </a:r>
          </a:p>
          <a:p xmlns:a="http://schemas.openxmlformats.org/drawingml/2006/main">
            <a:r>
              <a:t/>
            </a:r>
          </a:p>
          <a:p xmlns:a="http://schemas.openxmlformats.org/drawingml/2006/main">
            <a:r>
              <a:t>Fuente: veterinaria-san-marcos (2).zip, proyecto entregado por el equipo. Inventario completo del ZIP. Fuente del alcance objetivo: DSY1104 - Forma A - Veterinaria San Marcos.docx, sección 0, y ERS del proyecto.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Recorrido sugerido, aproximadamente 90 segundos. Primero abrir productos.html, filtrar Dermatología y entrar a Clorhexidina shampoo. Agregar dos unidades y abrir carrito.html. Mostrar el total de 17.800 pesos, modificar cantidad y recargar para explicar la persistencia local. No prometer un cobro real. Luego abrir contacto.html y enviar el formulario vacío para mostrar los errores junto al campo. Por último abrir admin/productos.html, buscar Clorhexidina y editar su stock a 4, manteniendo el umbral crítico de 5. Guardar y mostrar la alerta. Explicar que el cambio afecta al panel de demostración y todavía no al catálogo público. Utilizar datos ficticios. Si hay poco tiempo, priorizar catálogo y carrito.</a:t>
            </a:r>
          </a:p>
          <a:p xmlns:a="http://schemas.openxmlformats.org/drawingml/2006/main">
            <a:r>
              <a:t/>
            </a:r>
          </a:p>
          <a:p xmlns:a="http://schemas.openxmlformats.org/drawingml/2006/main">
            <a:r>
              <a:t>Fuente: veterinaria-san-marcos (2).zip, proyecto entregado por el equipo. Rutas y funciones de js/productos.js, js/carrito.js, js/validaciones.js y js/admin.js.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Para cerrar: nuestro programa propone una forma más accesible de conocer la oferta de Veterinaria San Marcos y preparar una compra. El prototipo demuestra el catálogo, el carrito y la administración local. Nuestra propuesta es validar la experiencia con el equipo de la clínica y luego conectarla con una base de datos y servicios seguros. A partir de esa base, incorporaremos la gestión clínica definida en la ERS. Muchas gracias. Quedamos atentos a sus preguntas. Tiempo sugerido: 25 segundos.</a:t>
            </a:r>
          </a:p>
          <a:p xmlns:a="http://schemas.openxmlformats.org/drawingml/2006/main">
            <a:r>
              <a:t/>
            </a:r>
          </a:p>
          <a:p xmlns:a="http://schemas.openxmlformats.org/drawingml/2006/main">
            <a:r>
              <a:t>Fuente: veterinaria-san-marcos (2).zip, proyecto entregado por el equipo. Conclusión y siguiente paso propuestos por el equipo. Fondo ilustrativo creado para esta presentación.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6c7bc293a0444c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c001ff281434207" /><Relationship Type="http://schemas.openxmlformats.org/officeDocument/2006/relationships/slideLayout" Target="/ppt/slideLayouts/slideLayout1.xml" Id="R11e6edeaf834407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1e6edeaf834407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c9c776bda7d4f13" /><Relationship Type="http://schemas.openxmlformats.org/officeDocument/2006/relationships/image" Target="/ppt/media/image.png" Id="R37e2c52d4fd74bd6" /><Relationship Type="http://schemas.openxmlformats.org/officeDocument/2006/relationships/notesSlide" Target="/ppt/notesSlides/notesSlide1.xml" Id="R776eb88126fd4f05"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795ba192d6444b5c" /><Relationship Type="http://schemas.openxmlformats.org/officeDocument/2006/relationships/notesSlide" Target="/ppt/notesSlides/notesSlide2.xml" Id="R3026f9f52d3047da"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f2ca1d4c930a4d22" /><Relationship Type="http://schemas.openxmlformats.org/officeDocument/2006/relationships/notesSlide" Target="/ppt/notesSlides/notesSlide3.xml" Id="R2fc69f6163c9409a"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8313c90d346e4ed2" /><Relationship Type="http://schemas.openxmlformats.org/officeDocument/2006/relationships/notesSlide" Target="/ppt/notesSlides/notesSlide4.xml" Id="R7bed4d63595d40dc"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189267f1172a4c7b" /><Relationship Type="http://schemas.openxmlformats.org/officeDocument/2006/relationships/notesSlide" Target="/ppt/notesSlides/notesSlide5.xml" Id="R7c0fbbbeeb6743db"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e2acd87b107f47b6" /><Relationship Type="http://schemas.openxmlformats.org/officeDocument/2006/relationships/notesSlide" Target="/ppt/notesSlides/notesSlide6.xml" Id="R7508712b68804f14"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ae9956cd08754b92" /><Relationship Type="http://schemas.openxmlformats.org/officeDocument/2006/relationships/notesSlide" Target="/ppt/notesSlides/notesSlide7.xml" Id="R340a21b6558242c5"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fffdcac5d3be4bd3" /><Relationship Type="http://schemas.openxmlformats.org/officeDocument/2006/relationships/notesSlide" Target="/ppt/notesSlides/notesSlide8.xml" Id="Rdce4a4264d0c4763"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483fc2ee28f440ef" /><Relationship Type="http://schemas.openxmlformats.org/officeDocument/2006/relationships/notesSlide" Target="/ppt/notesSlides/notesSlide9.xml" Id="Raf562643edd14a5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a5d9862cc78a4a4b" /><Relationship Type="http://schemas.openxmlformats.org/officeDocument/2006/relationships/notesSlide" Target="/ppt/notesSlides/notesSlide10.xml" Id="Ra52dd2d64ae3449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dc5dab7f2dac4321" /><Relationship Type="http://schemas.openxmlformats.org/officeDocument/2006/relationships/notesSlide" Target="/ppt/notesSlides/notesSlide11.xml" Id="R0a3d923ae95e4d01"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28857d66ffff4fe2" /><Relationship Type="http://schemas.openxmlformats.org/officeDocument/2006/relationships/image" Target="/ppt/media/image2.png" Id="R0bb112fa67284784" /><Relationship Type="http://schemas.openxmlformats.org/officeDocument/2006/relationships/notesSlide" Target="/ppt/notesSlides/notesSlide12.xml" Id="R603fafb594104359" /></Relationships>
</file>

<file path=ppt/slides/slide1.xml><?xml version="1.0" encoding="utf-8"?>
<p:sld xmlns:p="http://schemas.openxmlformats.org/presentationml/2006/main">
  <p:cSld>
    <p:bg>
      <p:bgPr>
        <a:solidFill xmlns:a="http://schemas.openxmlformats.org/drawingml/2006/main">
          <a:srgbClr val="F7F9F8"/>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37e2c52d4fd74bd6"/>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Veterinaria&#10;San Marcos">
            <a:extLst xmlns:a="http://schemas.openxmlformats.org/drawingml/2006/main">
              <a:ext uri="{FF2B5EF4-FFF2-40B4-BE49-F238E27FC236}">
                <a16:creationId xmlns:a16="http://schemas.microsoft.com/office/drawing/2014/main" id="{ACB10C14-6CA6-45EC-B350-52F68DA29B89}"/>
              </a:ext>
            </a:extLst>
          </p:cNvPr>
          <p:cNvSpPr>
            <a:spLocks xmlns:a="http://schemas.openxmlformats.org/drawingml/2006/main" noGrp="1"/>
          </p:cNvSpPr>
          <p:nvPr/>
        </p:nvSpPr>
        <p:spPr>
          <a:xfrm xmlns:a="http://schemas.openxmlformats.org/drawingml/2006/main">
            <a:off x="619125" y="1285875"/>
            <a:ext cx="64770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5400" b="1">
                <a:solidFill>
                  <a:srgbClr val="205942"/>
                </a:solidFill>
                <a:latin typeface="DejaVu Sans"/>
                <a:ea typeface="DejaVu Sans"/>
                <a:cs typeface="DejaVu Sans"/>
              </a:defRPr>
            </a:pPr>
            <a:r>
              <a:rPr sz="5400" b="1">
                <a:solidFill>
                  <a:srgbClr val="205942"/>
                </a:solidFill>
                <a:latin typeface="DejaVu Sans"/>
                <a:ea typeface="DejaVu Sans"/>
                <a:cs typeface="DejaVu Sans"/>
              </a:rPr>
              <a:t>Veterinaria</a:t>
            </a:r>
          </a:p>
          <a:p xmlns:a="http://schemas.openxmlformats.org/drawingml/2006/main">
            <a:pPr>
              <a:defRPr sz="5400" b="1">
                <a:solidFill>
                  <a:srgbClr val="205942"/>
                </a:solidFill>
                <a:latin typeface="DejaVu Sans"/>
                <a:ea typeface="DejaVu Sans"/>
                <a:cs typeface="DejaVu Sans"/>
              </a:defRPr>
            </a:pPr>
            <a:r>
              <a:rPr sz="5400" b="1">
                <a:solidFill>
                  <a:srgbClr val="205942"/>
                </a:solidFill>
                <a:latin typeface="DejaVu Sans"/>
                <a:ea typeface="DejaVu Sans"/>
                <a:cs typeface="DejaVu Sans"/>
              </a:rPr>
              <a:t>San Marcos</a:t>
            </a:r>
          </a:p>
        </p:txBody>
      </p:sp>
      <p:sp>
        <p:nvSpPr>
          <p:cNvPr id="3" name="Una tienda web para acercar&#10;la clínica a sus ">
            <a:extLst xmlns:a="http://schemas.openxmlformats.org/drawingml/2006/main">
              <a:ext uri="{FF2B5EF4-FFF2-40B4-BE49-F238E27FC236}">
                <a16:creationId xmlns:a16="http://schemas.microsoft.com/office/drawing/2014/main" id="{389AC867-B46C-4B46-A719-53CF299C451D}"/>
              </a:ext>
            </a:extLst>
          </p:cNvPr>
          <p:cNvSpPr>
            <a:spLocks xmlns:a="http://schemas.openxmlformats.org/drawingml/2006/main" noGrp="1"/>
          </p:cNvSpPr>
          <p:nvPr/>
        </p:nvSpPr>
        <p:spPr>
          <a:xfrm xmlns:a="http://schemas.openxmlformats.org/drawingml/2006/main">
            <a:off x="666750" y="3590925"/>
            <a:ext cx="6096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23312C"/>
                </a:solidFill>
                <a:latin typeface="DejaVu Sans"/>
                <a:ea typeface="DejaVu Sans"/>
                <a:cs typeface="DejaVu Sans"/>
              </a:defRPr>
            </a:pPr>
            <a:r>
              <a:rPr sz="2325" b="0">
                <a:solidFill>
                  <a:srgbClr val="23312C"/>
                </a:solidFill>
                <a:latin typeface="DejaVu Sans"/>
                <a:ea typeface="DejaVu Sans"/>
                <a:cs typeface="DejaVu Sans"/>
              </a:rPr>
              <a:t>Una tienda web para acercar</a:t>
            </a:r>
          </a:p>
          <a:p xmlns:a="http://schemas.openxmlformats.org/drawingml/2006/main">
            <a:pPr>
              <a:defRPr sz="2325" b="0">
                <a:solidFill>
                  <a:srgbClr val="23312C"/>
                </a:solidFill>
                <a:latin typeface="DejaVu Sans"/>
                <a:ea typeface="DejaVu Sans"/>
                <a:cs typeface="DejaVu Sans"/>
              </a:defRPr>
            </a:pPr>
            <a:r>
              <a:rPr sz="2325" b="0">
                <a:solidFill>
                  <a:srgbClr val="23312C"/>
                </a:solidFill>
                <a:latin typeface="DejaVu Sans"/>
                <a:ea typeface="DejaVu Sans"/>
                <a:cs typeface="DejaVu Sans"/>
              </a:rPr>
              <a:t>la clínica a sus clientes</a:t>
            </a:r>
          </a:p>
        </p:txBody>
      </p:sp>
      <p:sp>
        <p:nvSpPr>
          <p:cNvPr id="4" name="Presentación del prototipo">
            <a:extLst xmlns:a="http://schemas.openxmlformats.org/drawingml/2006/main">
              <a:ext uri="{FF2B5EF4-FFF2-40B4-BE49-F238E27FC236}">
                <a16:creationId xmlns:a16="http://schemas.microsoft.com/office/drawing/2014/main" id="{F9D4033E-EFF7-4C4B-8A09-471DC13C98D6}"/>
              </a:ext>
            </a:extLst>
          </p:cNvPr>
          <p:cNvSpPr>
            <a:spLocks xmlns:a="http://schemas.openxmlformats.org/drawingml/2006/main" noGrp="1"/>
          </p:cNvSpPr>
          <p:nvPr/>
        </p:nvSpPr>
        <p:spPr>
          <a:xfrm xmlns:a="http://schemas.openxmlformats.org/drawingml/2006/main">
            <a:off x="666750" y="5267325"/>
            <a:ext cx="5715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205942"/>
                </a:solidFill>
                <a:latin typeface="DejaVu Sans"/>
                <a:ea typeface="DejaVu Sans"/>
                <a:cs typeface="DejaVu Sans"/>
              </a:defRPr>
            </a:pPr>
            <a:r>
              <a:rPr sz="1650" b="1">
                <a:solidFill>
                  <a:srgbClr val="205942"/>
                </a:solidFill>
                <a:latin typeface="DejaVu Sans"/>
                <a:ea typeface="DejaVu Sans"/>
                <a:cs typeface="DejaVu Sans"/>
              </a:rPr>
              <a:t>Presentación del prototipo</a:t>
            </a:r>
          </a:p>
        </p:txBody>
      </p:sp>
      <p:sp>
        <p:nvSpPr>
          <p:cNvPr id="5" name="DSY1104  /  Desarrollo FullStack II">
            <a:extLst xmlns:a="http://schemas.openxmlformats.org/drawingml/2006/main">
              <a:ext uri="{FF2B5EF4-FFF2-40B4-BE49-F238E27FC236}">
                <a16:creationId xmlns:a16="http://schemas.microsoft.com/office/drawing/2014/main" id="{7327BD81-8E21-4B7E-A3BF-22F3546FEF0D}"/>
              </a:ext>
            </a:extLst>
          </p:cNvPr>
          <p:cNvSpPr>
            <a:spLocks xmlns:a="http://schemas.openxmlformats.org/drawingml/2006/main" noGrp="1"/>
          </p:cNvSpPr>
          <p:nvPr/>
        </p:nvSpPr>
        <p:spPr>
          <a:xfrm xmlns:a="http://schemas.openxmlformats.org/drawingml/2006/main">
            <a:off x="666750" y="5753100"/>
            <a:ext cx="5810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5A6B64"/>
                </a:solidFill>
                <a:latin typeface="DejaVu Sans"/>
                <a:ea typeface="DejaVu Sans"/>
                <a:cs typeface="DejaVu Sans"/>
              </a:defRPr>
            </a:pPr>
            <a:r>
              <a:rPr sz="1500" b="0">
                <a:solidFill>
                  <a:srgbClr val="5A6B64"/>
                </a:solidFill>
                <a:latin typeface="DejaVu Sans"/>
                <a:ea typeface="DejaVu Sans"/>
                <a:cs typeface="DejaVu Sans"/>
              </a:rPr>
              <a:t>DSY1104  /  Desarrollo FullStack II</a:t>
            </a:r>
          </a:p>
        </p:txBody>
      </p:sp>
    </p:spTree>
    <p:extLst>
      <p:ext uri="{BB962C8B-B14F-4D97-AF65-F5344CB8AC3E}">
        <p14:creationId xmlns:p14="http://schemas.microsoft.com/office/powerpoint/2010/main" val="1065281686"/>
      </p:ext>
    </p:extLst>
  </p:cSld>
</p:sld>
</file>

<file path=ppt/slides/slide2.xml><?xml version="1.0" encoding="utf-8"?>
<p:sld xmlns:p="http://schemas.openxmlformats.org/presentationml/2006/main">
  <p:cSld>
    <p:bg>
      <p:bgPr>
        <a:solidFill xmlns:a="http://schemas.openxmlformats.org/drawingml/2006/main">
          <a:srgbClr val="F7F9F8"/>
        </a:solidFill>
      </p:bgPr>
    </p:bg>
    <p:spTree>
      <p:nvGrpSpPr>
        <p:cNvPr id="1" name=""/>
        <p:cNvGrpSpPr/>
        <p:nvPr/>
      </p:nvGrpSpPr>
      <p:grpSpPr>
        <a:xfrm xmlns:a="http://schemas.openxmlformats.org/drawingml/2006/main"/>
      </p:grpSpPr>
      <p:sp>
        <p:nvSpPr>
          <p:cNvPr id="11" name="Una clínica que necesita digitalizarse">
            <a:extLst xmlns:a="http://schemas.openxmlformats.org/drawingml/2006/main">
              <a:ext uri="{FF2B5EF4-FFF2-40B4-BE49-F238E27FC236}">
                <a16:creationId xmlns:a16="http://schemas.microsoft.com/office/drawing/2014/main" id="{B6FA2FA1-A976-4AED-82C8-8D3D9C4FC21B}"/>
              </a:ext>
            </a:extLst>
          </p:cNvPr>
          <p:cNvSpPr>
            <a:spLocks xmlns:a="http://schemas.openxmlformats.org/drawingml/2006/main" noGrp="1"/>
          </p:cNvSpPr>
          <p:nvPr/>
        </p:nvSpPr>
        <p:spPr>
          <a:xfrm xmlns:a="http://schemas.openxmlformats.org/drawingml/2006/main">
            <a:off x="647700" y="457200"/>
            <a:ext cx="108966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205942"/>
                </a:solidFill>
                <a:latin typeface="DejaVu Sans"/>
                <a:ea typeface="DejaVu Sans"/>
                <a:cs typeface="DejaVu Sans"/>
              </a:defRPr>
            </a:pPr>
            <a:r>
              <a:rPr sz="3300" b="1">
                <a:solidFill>
                  <a:srgbClr val="205942"/>
                </a:solidFill>
                <a:latin typeface="DejaVu Sans"/>
                <a:ea typeface="DejaVu Sans"/>
                <a:cs typeface="DejaVu Sans"/>
              </a:rPr>
              <a:t>Una clínica que necesita digitalizarse</a:t>
            </a:r>
          </a:p>
        </p:txBody>
      </p:sp>
      <p:sp>
        <p:nvSpPr>
          <p:cNvPr id="2" name="02">
            <a:extLst xmlns:a="http://schemas.openxmlformats.org/drawingml/2006/main">
              <a:ext uri="{FF2B5EF4-FFF2-40B4-BE49-F238E27FC236}">
                <a16:creationId xmlns:a16="http://schemas.microsoft.com/office/drawing/2014/main" id="{C05191A7-ED05-44A7-A6AD-5867F5058FB6}"/>
              </a:ext>
            </a:extLst>
          </p:cNvPr>
          <p:cNvSpPr>
            <a:spLocks xmlns:a="http://schemas.openxmlformats.org/drawingml/2006/main" noGrp="1"/>
          </p:cNvSpPr>
          <p:nvPr/>
        </p:nvSpPr>
        <p:spPr>
          <a:xfrm xmlns:a="http://schemas.openxmlformats.org/drawingml/2006/main">
            <a:off x="11144250" y="6400800"/>
            <a:ext cx="419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A6B64"/>
                </a:solidFill>
                <a:latin typeface="DejaVu Sans"/>
                <a:ea typeface="DejaVu Sans"/>
                <a:cs typeface="DejaVu Sans"/>
              </a:defRPr>
            </a:pPr>
            <a:r>
              <a:rPr sz="1275" b="0">
                <a:solidFill>
                  <a:srgbClr val="5A6B64"/>
                </a:solidFill>
                <a:latin typeface="DejaVu Sans"/>
                <a:ea typeface="DejaVu Sans"/>
                <a:cs typeface="DejaVu Sans"/>
              </a:rPr>
              <a:t>02</a:t>
            </a:r>
          </a:p>
        </p:txBody>
      </p:sp>
      <p:sp>
        <p:nvSpPr>
          <p:cNvPr id="3" name="25">
            <a:extLst xmlns:a="http://schemas.openxmlformats.org/drawingml/2006/main">
              <a:ext uri="{FF2B5EF4-FFF2-40B4-BE49-F238E27FC236}">
                <a16:creationId xmlns:a16="http://schemas.microsoft.com/office/drawing/2014/main" id="{9F200922-EC92-485D-BB2F-D2C72F8A0195}"/>
              </a:ext>
            </a:extLst>
          </p:cNvPr>
          <p:cNvSpPr>
            <a:spLocks xmlns:a="http://schemas.openxmlformats.org/drawingml/2006/main" noGrp="1"/>
          </p:cNvSpPr>
          <p:nvPr/>
        </p:nvSpPr>
        <p:spPr>
          <a:xfrm xmlns:a="http://schemas.openxmlformats.org/drawingml/2006/main">
            <a:off x="666750" y="1857375"/>
            <a:ext cx="2857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6825" b="1">
                <a:solidFill>
                  <a:srgbClr val="205942"/>
                </a:solidFill>
                <a:latin typeface="DejaVu Sans"/>
                <a:ea typeface="DejaVu Sans"/>
                <a:cs typeface="DejaVu Sans"/>
              </a:defRPr>
            </a:pPr>
            <a:r>
              <a:rPr sz="6825" b="1">
                <a:solidFill>
                  <a:srgbClr val="205942"/>
                </a:solidFill>
                <a:latin typeface="DejaVu Sans"/>
                <a:ea typeface="DejaVu Sans"/>
                <a:cs typeface="DejaVu Sans"/>
              </a:rPr>
              <a:t>25</a:t>
            </a:r>
          </a:p>
        </p:txBody>
      </p:sp>
      <p:sp>
        <p:nvSpPr>
          <p:cNvPr id="4" name="pacientes por día">
            <a:extLst xmlns:a="http://schemas.openxmlformats.org/drawingml/2006/main">
              <a:ext uri="{FF2B5EF4-FFF2-40B4-BE49-F238E27FC236}">
                <a16:creationId xmlns:a16="http://schemas.microsoft.com/office/drawing/2014/main" id="{26F7D932-68E7-4BE7-82EE-A32394A1CAC8}"/>
              </a:ext>
            </a:extLst>
          </p:cNvPr>
          <p:cNvSpPr>
            <a:spLocks xmlns:a="http://schemas.openxmlformats.org/drawingml/2006/main" noGrp="1"/>
          </p:cNvSpPr>
          <p:nvPr/>
        </p:nvSpPr>
        <p:spPr>
          <a:xfrm xmlns:a="http://schemas.openxmlformats.org/drawingml/2006/main">
            <a:off x="695325" y="3057525"/>
            <a:ext cx="30956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23312C"/>
                </a:solidFill>
                <a:latin typeface="DejaVu Sans"/>
                <a:ea typeface="DejaVu Sans"/>
                <a:cs typeface="DejaVu Sans"/>
              </a:defRPr>
            </a:pPr>
            <a:r>
              <a:rPr sz="2025" b="1">
                <a:solidFill>
                  <a:srgbClr val="23312C"/>
                </a:solidFill>
                <a:latin typeface="DejaVu Sans"/>
                <a:ea typeface="DejaVu Sans"/>
                <a:cs typeface="DejaVu Sans"/>
              </a:rPr>
              <a:t>pacientes por día</a:t>
            </a:r>
          </a:p>
        </p:txBody>
      </p:sp>
      <p:sp>
        <p:nvSpPr>
          <p:cNvPr id="5" name="20 %">
            <a:extLst xmlns:a="http://schemas.openxmlformats.org/drawingml/2006/main">
              <a:ext uri="{FF2B5EF4-FFF2-40B4-BE49-F238E27FC236}">
                <a16:creationId xmlns:a16="http://schemas.microsoft.com/office/drawing/2014/main" id="{1374C043-FC35-4AC7-8EFA-3B35437B0893}"/>
              </a:ext>
            </a:extLst>
          </p:cNvPr>
          <p:cNvSpPr>
            <a:spLocks xmlns:a="http://schemas.openxmlformats.org/drawingml/2006/main" noGrp="1"/>
          </p:cNvSpPr>
          <p:nvPr/>
        </p:nvSpPr>
        <p:spPr>
          <a:xfrm xmlns:a="http://schemas.openxmlformats.org/drawingml/2006/main">
            <a:off x="4410075" y="1857375"/>
            <a:ext cx="3286125"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6825" b="1">
                <a:solidFill>
                  <a:srgbClr val="205942"/>
                </a:solidFill>
                <a:latin typeface="DejaVu Sans"/>
                <a:ea typeface="DejaVu Sans"/>
                <a:cs typeface="DejaVu Sans"/>
              </a:defRPr>
            </a:pPr>
            <a:r>
              <a:rPr sz="6825" b="1">
                <a:solidFill>
                  <a:srgbClr val="205942"/>
                </a:solidFill>
                <a:latin typeface="DejaVu Sans"/>
                <a:ea typeface="DejaVu Sans"/>
                <a:cs typeface="DejaVu Sans"/>
              </a:rPr>
              <a:t>20 %</a:t>
            </a:r>
          </a:p>
        </p:txBody>
      </p:sp>
      <p:sp>
        <p:nvSpPr>
          <p:cNvPr id="6" name="de citas con inasistencia">
            <a:extLst xmlns:a="http://schemas.openxmlformats.org/drawingml/2006/main">
              <a:ext uri="{FF2B5EF4-FFF2-40B4-BE49-F238E27FC236}">
                <a16:creationId xmlns:a16="http://schemas.microsoft.com/office/drawing/2014/main" id="{76881048-66D0-4C6B-8291-6F0F4AEBB874}"/>
              </a:ext>
            </a:extLst>
          </p:cNvPr>
          <p:cNvSpPr>
            <a:spLocks xmlns:a="http://schemas.openxmlformats.org/drawingml/2006/main" noGrp="1"/>
          </p:cNvSpPr>
          <p:nvPr/>
        </p:nvSpPr>
        <p:spPr>
          <a:xfrm xmlns:a="http://schemas.openxmlformats.org/drawingml/2006/main">
            <a:off x="4438650" y="3057525"/>
            <a:ext cx="3619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23312C"/>
                </a:solidFill>
                <a:latin typeface="DejaVu Sans"/>
                <a:ea typeface="DejaVu Sans"/>
                <a:cs typeface="DejaVu Sans"/>
              </a:defRPr>
            </a:pPr>
            <a:r>
              <a:rPr sz="2025" b="1">
                <a:solidFill>
                  <a:srgbClr val="23312C"/>
                </a:solidFill>
                <a:latin typeface="DejaVu Sans"/>
                <a:ea typeface="DejaVu Sans"/>
                <a:cs typeface="DejaVu Sans"/>
              </a:rPr>
              <a:t>de citas con inasistencia</a:t>
            </a:r>
          </a:p>
        </p:txBody>
      </p:sp>
      <p:sp>
        <p:nvSpPr>
          <p:cNvPr id="7" name="4">
            <a:extLst xmlns:a="http://schemas.openxmlformats.org/drawingml/2006/main">
              <a:ext uri="{FF2B5EF4-FFF2-40B4-BE49-F238E27FC236}">
                <a16:creationId xmlns:a16="http://schemas.microsoft.com/office/drawing/2014/main" id="{823C4E38-8F70-41AD-A344-E69296CBF4D7}"/>
              </a:ext>
            </a:extLst>
          </p:cNvPr>
          <p:cNvSpPr>
            <a:spLocks xmlns:a="http://schemas.openxmlformats.org/drawingml/2006/main" noGrp="1"/>
          </p:cNvSpPr>
          <p:nvPr/>
        </p:nvSpPr>
        <p:spPr>
          <a:xfrm xmlns:a="http://schemas.openxmlformats.org/drawingml/2006/main">
            <a:off x="8686800" y="1857375"/>
            <a:ext cx="2619375"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6825" b="1">
                <a:solidFill>
                  <a:srgbClr val="205942"/>
                </a:solidFill>
                <a:latin typeface="DejaVu Sans"/>
                <a:ea typeface="DejaVu Sans"/>
                <a:cs typeface="DejaVu Sans"/>
              </a:defRPr>
            </a:pPr>
            <a:r>
              <a:rPr sz="6825" b="1">
                <a:solidFill>
                  <a:srgbClr val="205942"/>
                </a:solidFill>
                <a:latin typeface="DejaVu Sans"/>
                <a:ea typeface="DejaVu Sans"/>
                <a:cs typeface="DejaVu Sans"/>
              </a:rPr>
              <a:t>4</a:t>
            </a:r>
          </a:p>
        </p:txBody>
      </p:sp>
      <p:sp>
        <p:nvSpPr>
          <p:cNvPr id="8" name="fichas perdidas&#10;en seis meses">
            <a:extLst xmlns:a="http://schemas.openxmlformats.org/drawingml/2006/main">
              <a:ext uri="{FF2B5EF4-FFF2-40B4-BE49-F238E27FC236}">
                <a16:creationId xmlns:a16="http://schemas.microsoft.com/office/drawing/2014/main" id="{C73C5406-3068-466F-934B-AB038CBDA092}"/>
              </a:ext>
            </a:extLst>
          </p:cNvPr>
          <p:cNvSpPr>
            <a:spLocks xmlns:a="http://schemas.openxmlformats.org/drawingml/2006/main" noGrp="1"/>
          </p:cNvSpPr>
          <p:nvPr/>
        </p:nvSpPr>
        <p:spPr>
          <a:xfrm xmlns:a="http://schemas.openxmlformats.org/drawingml/2006/main">
            <a:off x="8715375" y="3057525"/>
            <a:ext cx="27813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23312C"/>
                </a:solidFill>
                <a:latin typeface="DejaVu Sans"/>
                <a:ea typeface="DejaVu Sans"/>
                <a:cs typeface="DejaVu Sans"/>
              </a:defRPr>
            </a:pPr>
            <a:r>
              <a:rPr sz="2025" b="1">
                <a:solidFill>
                  <a:srgbClr val="23312C"/>
                </a:solidFill>
                <a:latin typeface="DejaVu Sans"/>
                <a:ea typeface="DejaVu Sans"/>
                <a:cs typeface="DejaVu Sans"/>
              </a:rPr>
              <a:t>fichas perdidas</a:t>
            </a:r>
          </a:p>
          <a:p xmlns:a="http://schemas.openxmlformats.org/drawingml/2006/main">
            <a:pPr>
              <a:defRPr sz="2025" b="1">
                <a:solidFill>
                  <a:srgbClr val="23312C"/>
                </a:solidFill>
                <a:latin typeface="DejaVu Sans"/>
                <a:ea typeface="DejaVu Sans"/>
                <a:cs typeface="DejaVu Sans"/>
              </a:defRPr>
            </a:pPr>
            <a:r>
              <a:rPr sz="2025" b="1">
                <a:solidFill>
                  <a:srgbClr val="23312C"/>
                </a:solidFill>
                <a:latin typeface="DejaVu Sans"/>
                <a:ea typeface="DejaVu Sans"/>
                <a:cs typeface="DejaVu Sans"/>
              </a:rPr>
              <a:t>en seis meses</a:t>
            </a:r>
          </a:p>
        </p:txBody>
      </p:sp>
      <p:sp>
        <p:nvSpPr>
          <p:cNvPr id="9" name="La gestión manual ya no acompaña el volumen d">
            <a:extLst xmlns:a="http://schemas.openxmlformats.org/drawingml/2006/main">
              <a:ext uri="{FF2B5EF4-FFF2-40B4-BE49-F238E27FC236}">
                <a16:creationId xmlns:a16="http://schemas.microsoft.com/office/drawing/2014/main" id="{06FDFB7B-F425-4667-B030-C33CC8A86C14}"/>
              </a:ext>
            </a:extLst>
          </p:cNvPr>
          <p:cNvSpPr>
            <a:spLocks xmlns:a="http://schemas.openxmlformats.org/drawingml/2006/main" noGrp="1"/>
          </p:cNvSpPr>
          <p:nvPr/>
        </p:nvSpPr>
        <p:spPr>
          <a:xfrm xmlns:a="http://schemas.openxmlformats.org/drawingml/2006/main">
            <a:off x="685800" y="4657725"/>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1">
                <a:solidFill>
                  <a:srgbClr val="205942"/>
                </a:solidFill>
                <a:latin typeface="DejaVu Sans"/>
                <a:ea typeface="DejaVu Sans"/>
                <a:cs typeface="DejaVu Sans"/>
              </a:defRPr>
            </a:pPr>
            <a:r>
              <a:rPr sz="2550" b="1">
                <a:solidFill>
                  <a:srgbClr val="205942"/>
                </a:solidFill>
                <a:latin typeface="DejaVu Sans"/>
                <a:ea typeface="DejaVu Sans"/>
                <a:cs typeface="DejaVu Sans"/>
              </a:rPr>
              <a:t>La gestión manual ya no acompaña el volumen de atención.</a:t>
            </a:r>
          </a:p>
        </p:txBody>
      </p:sp>
      <p:sp>
        <p:nvSpPr>
          <p:cNvPr id="10" name="El prototipo aborda el canal comercial. Agend">
            <a:extLst xmlns:a="http://schemas.openxmlformats.org/drawingml/2006/main">
              <a:ext uri="{FF2B5EF4-FFF2-40B4-BE49-F238E27FC236}">
                <a16:creationId xmlns:a16="http://schemas.microsoft.com/office/drawing/2014/main" id="{E323D1D4-4842-4F0E-AE00-C30F3212A613}"/>
              </a:ext>
            </a:extLst>
          </p:cNvPr>
          <p:cNvSpPr>
            <a:spLocks xmlns:a="http://schemas.openxmlformats.org/drawingml/2006/main" noGrp="1"/>
          </p:cNvSpPr>
          <p:nvPr/>
        </p:nvSpPr>
        <p:spPr>
          <a:xfrm xmlns:a="http://schemas.openxmlformats.org/drawingml/2006/main">
            <a:off x="685800" y="5667375"/>
            <a:ext cx="10382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75" b="0">
                <a:solidFill>
                  <a:srgbClr val="5A6B64"/>
                </a:solidFill>
                <a:latin typeface="DejaVu Sans"/>
                <a:ea typeface="DejaVu Sans"/>
                <a:cs typeface="DejaVu Sans"/>
              </a:defRPr>
            </a:pPr>
            <a:r>
              <a:rPr sz="1575" b="0">
                <a:solidFill>
                  <a:srgbClr val="5A6B64"/>
                </a:solidFill>
                <a:latin typeface="DejaVu Sans"/>
                <a:ea typeface="DejaVu Sans"/>
                <a:cs typeface="DejaVu Sans"/>
              </a:rPr>
              <a:t>El prototipo aborda el canal comercial. Agenda y fichas digitales forman parte de la evolución propuesta.</a:t>
            </a:r>
          </a:p>
        </p:txBody>
      </p:sp>
    </p:spTree>
    <p:extLst>
      <p:ext uri="{BB962C8B-B14F-4D97-AF65-F5344CB8AC3E}">
        <p14:creationId xmlns:p14="http://schemas.microsoft.com/office/powerpoint/2010/main" val="1781221934"/>
      </p:ext>
    </p:extLst>
  </p:cSld>
</p:sld>
</file>

<file path=ppt/slides/slide3.xml><?xml version="1.0" encoding="utf-8"?>
<p:sld xmlns:p="http://schemas.openxmlformats.org/presentationml/2006/main">
  <p:cSld>
    <p:bg>
      <p:bgPr>
        <a:solidFill xmlns:a="http://schemas.openxmlformats.org/drawingml/2006/main">
          <a:srgbClr val="205942"/>
        </a:solidFill>
      </p:bgPr>
    </p:bg>
    <p:spTree>
      <p:nvGrpSpPr>
        <p:cNvPr id="1" name=""/>
        <p:cNvGrpSpPr/>
        <p:nvPr/>
      </p:nvGrpSpPr>
      <p:grpSpPr>
        <a:xfrm xmlns:a="http://schemas.openxmlformats.org/drawingml/2006/main"/>
      </p:grpSpPr>
      <p:sp>
        <p:nvSpPr>
          <p:cNvPr id="8" name="Nuestra propuesta">
            <a:extLst xmlns:a="http://schemas.openxmlformats.org/drawingml/2006/main">
              <a:ext uri="{FF2B5EF4-FFF2-40B4-BE49-F238E27FC236}">
                <a16:creationId xmlns:a16="http://schemas.microsoft.com/office/drawing/2014/main" id="{3CD01B11-E756-45C9-9BEE-C8387CC23B2A}"/>
              </a:ext>
            </a:extLst>
          </p:cNvPr>
          <p:cNvSpPr>
            <a:spLocks xmlns:a="http://schemas.openxmlformats.org/drawingml/2006/main" noGrp="1"/>
          </p:cNvSpPr>
          <p:nvPr/>
        </p:nvSpPr>
        <p:spPr>
          <a:xfrm xmlns:a="http://schemas.openxmlformats.org/drawingml/2006/main">
            <a:off x="647700" y="457200"/>
            <a:ext cx="108966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FFFFFF"/>
                </a:solidFill>
                <a:latin typeface="DejaVu Sans"/>
                <a:ea typeface="DejaVu Sans"/>
                <a:cs typeface="DejaVu Sans"/>
              </a:defRPr>
            </a:pPr>
            <a:r>
              <a:rPr sz="3300" b="1">
                <a:solidFill>
                  <a:srgbClr val="FFFFFF"/>
                </a:solidFill>
                <a:latin typeface="DejaVu Sans"/>
                <a:ea typeface="DejaVu Sans"/>
                <a:cs typeface="DejaVu Sans"/>
              </a:rPr>
              <a:t>Nuestra propuesta</a:t>
            </a:r>
          </a:p>
        </p:txBody>
      </p:sp>
      <p:sp>
        <p:nvSpPr>
          <p:cNvPr id="2" name="03">
            <a:extLst xmlns:a="http://schemas.openxmlformats.org/drawingml/2006/main">
              <a:ext uri="{FF2B5EF4-FFF2-40B4-BE49-F238E27FC236}">
                <a16:creationId xmlns:a16="http://schemas.microsoft.com/office/drawing/2014/main" id="{EAE38D0C-844C-48AC-944B-C74E14A0BF18}"/>
              </a:ext>
            </a:extLst>
          </p:cNvPr>
          <p:cNvSpPr>
            <a:spLocks xmlns:a="http://schemas.openxmlformats.org/drawingml/2006/main" noGrp="1"/>
          </p:cNvSpPr>
          <p:nvPr/>
        </p:nvSpPr>
        <p:spPr>
          <a:xfrm xmlns:a="http://schemas.openxmlformats.org/drawingml/2006/main">
            <a:off x="11144250" y="6400800"/>
            <a:ext cx="419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DDEBE3"/>
                </a:solidFill>
                <a:latin typeface="DejaVu Sans"/>
                <a:ea typeface="DejaVu Sans"/>
                <a:cs typeface="DejaVu Sans"/>
              </a:defRPr>
            </a:pPr>
            <a:r>
              <a:rPr sz="1275" b="0">
                <a:solidFill>
                  <a:srgbClr val="DDEBE3"/>
                </a:solidFill>
                <a:latin typeface="DejaVu Sans"/>
                <a:ea typeface="DejaVu Sans"/>
                <a:cs typeface="DejaVu Sans"/>
              </a:rPr>
              <a:t>03</a:t>
            </a:r>
          </a:p>
        </p:txBody>
      </p:sp>
      <p:sp>
        <p:nvSpPr>
          <p:cNvPr id="3" name="Un canal digital para conocer la oferta&#10;y pre">
            <a:extLst xmlns:a="http://schemas.openxmlformats.org/drawingml/2006/main">
              <a:ext uri="{FF2B5EF4-FFF2-40B4-BE49-F238E27FC236}">
                <a16:creationId xmlns:a16="http://schemas.microsoft.com/office/drawing/2014/main" id="{156EA01C-B6F3-42C9-A2BF-8ABB056F6D9F}"/>
              </a:ext>
            </a:extLst>
          </p:cNvPr>
          <p:cNvSpPr>
            <a:spLocks xmlns:a="http://schemas.openxmlformats.org/drawingml/2006/main" noGrp="1"/>
          </p:cNvSpPr>
          <p:nvPr/>
        </p:nvSpPr>
        <p:spPr>
          <a:xfrm xmlns:a="http://schemas.openxmlformats.org/drawingml/2006/main">
            <a:off x="685800" y="1762125"/>
            <a:ext cx="106680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450" b="1">
                <a:solidFill>
                  <a:srgbClr val="FFFFFF"/>
                </a:solidFill>
                <a:latin typeface="DejaVu Sans"/>
                <a:ea typeface="DejaVu Sans"/>
                <a:cs typeface="DejaVu Sans"/>
              </a:defRPr>
            </a:pPr>
            <a:r>
              <a:rPr sz="3450" b="1">
                <a:solidFill>
                  <a:srgbClr val="FFFFFF"/>
                </a:solidFill>
                <a:latin typeface="DejaVu Sans"/>
                <a:ea typeface="DejaVu Sans"/>
                <a:cs typeface="DejaVu Sans"/>
              </a:rPr>
              <a:t>Un canal digital para conocer la oferta</a:t>
            </a:r>
          </a:p>
          <a:p xmlns:a="http://schemas.openxmlformats.org/drawingml/2006/main">
            <a:pPr>
              <a:defRPr sz="3450" b="1">
                <a:solidFill>
                  <a:srgbClr val="FFFFFF"/>
                </a:solidFill>
                <a:latin typeface="DejaVu Sans"/>
                <a:ea typeface="DejaVu Sans"/>
                <a:cs typeface="DejaVu Sans"/>
              </a:defRPr>
            </a:pPr>
            <a:r>
              <a:rPr sz="3450" b="1">
                <a:solidFill>
                  <a:srgbClr val="FFFFFF"/>
                </a:solidFill>
                <a:latin typeface="DejaVu Sans"/>
                <a:ea typeface="DejaVu Sans"/>
                <a:cs typeface="DejaVu Sans"/>
              </a:rPr>
              <a:t>y preparar una compra</a:t>
            </a:r>
          </a:p>
        </p:txBody>
      </p:sp>
      <p:sp>
        <p:nvSpPr>
          <p:cNvPr id="4" name="Para los dueños">
            <a:extLst xmlns:a="http://schemas.openxmlformats.org/drawingml/2006/main">
              <a:ext uri="{FF2B5EF4-FFF2-40B4-BE49-F238E27FC236}">
                <a16:creationId xmlns:a16="http://schemas.microsoft.com/office/drawing/2014/main" id="{772E9C1C-41CF-494D-A237-AF37F4A74EF0}"/>
              </a:ext>
            </a:extLst>
          </p:cNvPr>
          <p:cNvSpPr>
            <a:spLocks xmlns:a="http://schemas.openxmlformats.org/drawingml/2006/main" noGrp="1"/>
          </p:cNvSpPr>
          <p:nvPr/>
        </p:nvSpPr>
        <p:spPr>
          <a:xfrm xmlns:a="http://schemas.openxmlformats.org/drawingml/2006/main">
            <a:off x="685800" y="3752850"/>
            <a:ext cx="4953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F2A541"/>
                </a:solidFill>
                <a:latin typeface="DejaVu Sans"/>
                <a:ea typeface="DejaVu Sans"/>
                <a:cs typeface="DejaVu Sans"/>
              </a:defRPr>
            </a:pPr>
            <a:r>
              <a:rPr sz="2175" b="1">
                <a:solidFill>
                  <a:srgbClr val="F2A541"/>
                </a:solidFill>
                <a:latin typeface="DejaVu Sans"/>
                <a:ea typeface="DejaVu Sans"/>
                <a:cs typeface="DejaVu Sans"/>
              </a:rPr>
              <a:t>Para los dueños</a:t>
            </a:r>
          </a:p>
        </p:txBody>
      </p:sp>
      <p:sp>
        <p:nvSpPr>
          <p:cNvPr id="5" name="Consultar productos y precios.&#10;Elegir cantida">
            <a:extLst xmlns:a="http://schemas.openxmlformats.org/drawingml/2006/main">
              <a:ext uri="{FF2B5EF4-FFF2-40B4-BE49-F238E27FC236}">
                <a16:creationId xmlns:a16="http://schemas.microsoft.com/office/drawing/2014/main" id="{F8FE2081-613C-48E6-B803-5CF5B9552C74}"/>
              </a:ext>
            </a:extLst>
          </p:cNvPr>
          <p:cNvSpPr>
            <a:spLocks xmlns:a="http://schemas.openxmlformats.org/drawingml/2006/main" noGrp="1"/>
          </p:cNvSpPr>
          <p:nvPr/>
        </p:nvSpPr>
        <p:spPr>
          <a:xfrm xmlns:a="http://schemas.openxmlformats.org/drawingml/2006/main">
            <a:off x="685800" y="4324350"/>
            <a:ext cx="49530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FFFFFF"/>
                </a:solidFill>
                <a:latin typeface="DejaVu Sans"/>
                <a:ea typeface="DejaVu Sans"/>
                <a:cs typeface="DejaVu Sans"/>
              </a:defRPr>
            </a:pPr>
            <a:r>
              <a:rPr sz="2025" b="0">
                <a:solidFill>
                  <a:srgbClr val="FFFFFF"/>
                </a:solidFill>
                <a:latin typeface="DejaVu Sans"/>
                <a:ea typeface="DejaVu Sans"/>
                <a:cs typeface="DejaVu Sans"/>
              </a:rPr>
              <a:t>Consultar productos y precios.</a:t>
            </a:r>
          </a:p>
          <a:p xmlns:a="http://schemas.openxmlformats.org/drawingml/2006/main">
            <a:pPr>
              <a:defRPr sz="2025" b="0">
                <a:solidFill>
                  <a:srgbClr val="FFFFFF"/>
                </a:solidFill>
                <a:latin typeface="DejaVu Sans"/>
                <a:ea typeface="DejaVu Sans"/>
                <a:cs typeface="DejaVu Sans"/>
              </a:defRPr>
            </a:pPr>
            <a:r>
              <a:rPr sz="2025" b="0">
                <a:solidFill>
                  <a:srgbClr val="FFFFFF"/>
                </a:solidFill>
                <a:latin typeface="DejaVu Sans"/>
                <a:ea typeface="DejaVu Sans"/>
                <a:cs typeface="DejaVu Sans"/>
              </a:rPr>
              <a:t>Elegir cantidades y revisar el total.</a:t>
            </a:r>
          </a:p>
        </p:txBody>
      </p:sp>
      <p:sp>
        <p:nvSpPr>
          <p:cNvPr id="6" name="Para la clínica">
            <a:extLst xmlns:a="http://schemas.openxmlformats.org/drawingml/2006/main">
              <a:ext uri="{FF2B5EF4-FFF2-40B4-BE49-F238E27FC236}">
                <a16:creationId xmlns:a16="http://schemas.microsoft.com/office/drawing/2014/main" id="{992C0C3E-72BC-4C75-8D1C-A5F505D76324}"/>
              </a:ext>
            </a:extLst>
          </p:cNvPr>
          <p:cNvSpPr>
            <a:spLocks xmlns:a="http://schemas.openxmlformats.org/drawingml/2006/main" noGrp="1"/>
          </p:cNvSpPr>
          <p:nvPr/>
        </p:nvSpPr>
        <p:spPr>
          <a:xfrm xmlns:a="http://schemas.openxmlformats.org/drawingml/2006/main">
            <a:off x="6553200" y="3752850"/>
            <a:ext cx="4953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F2A541"/>
                </a:solidFill>
                <a:latin typeface="DejaVu Sans"/>
                <a:ea typeface="DejaVu Sans"/>
                <a:cs typeface="DejaVu Sans"/>
              </a:defRPr>
            </a:pPr>
            <a:r>
              <a:rPr sz="2175" b="1">
                <a:solidFill>
                  <a:srgbClr val="F2A541"/>
                </a:solidFill>
                <a:latin typeface="DejaVu Sans"/>
                <a:ea typeface="DejaVu Sans"/>
                <a:cs typeface="DejaVu Sans"/>
              </a:rPr>
              <a:t>Para la clínica</a:t>
            </a:r>
          </a:p>
        </p:txBody>
      </p:sp>
      <p:sp>
        <p:nvSpPr>
          <p:cNvPr id="7" name="Gestionar productos y usuarios&#10;dentro del pan">
            <a:extLst xmlns:a="http://schemas.openxmlformats.org/drawingml/2006/main">
              <a:ext uri="{FF2B5EF4-FFF2-40B4-BE49-F238E27FC236}">
                <a16:creationId xmlns:a16="http://schemas.microsoft.com/office/drawing/2014/main" id="{E3357F7E-BA02-40D3-9EFA-43CDBD2C3EF6}"/>
              </a:ext>
            </a:extLst>
          </p:cNvPr>
          <p:cNvSpPr>
            <a:spLocks xmlns:a="http://schemas.openxmlformats.org/drawingml/2006/main" noGrp="1"/>
          </p:cNvSpPr>
          <p:nvPr/>
        </p:nvSpPr>
        <p:spPr>
          <a:xfrm xmlns:a="http://schemas.openxmlformats.org/drawingml/2006/main">
            <a:off x="6553200" y="4324350"/>
            <a:ext cx="49530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FFFFFF"/>
                </a:solidFill>
                <a:latin typeface="DejaVu Sans"/>
                <a:ea typeface="DejaVu Sans"/>
                <a:cs typeface="DejaVu Sans"/>
              </a:defRPr>
            </a:pPr>
            <a:r>
              <a:rPr sz="2025" b="0">
                <a:solidFill>
                  <a:srgbClr val="FFFFFF"/>
                </a:solidFill>
                <a:latin typeface="DejaVu Sans"/>
                <a:ea typeface="DejaVu Sans"/>
                <a:cs typeface="DejaVu Sans"/>
              </a:rPr>
              <a:t>Gestionar productos y usuarios</a:t>
            </a:r>
          </a:p>
          <a:p xmlns:a="http://schemas.openxmlformats.org/drawingml/2006/main">
            <a:pPr>
              <a:defRPr sz="2025" b="0">
                <a:solidFill>
                  <a:srgbClr val="FFFFFF"/>
                </a:solidFill>
                <a:latin typeface="DejaVu Sans"/>
                <a:ea typeface="DejaVu Sans"/>
                <a:cs typeface="DejaVu Sans"/>
              </a:defRPr>
            </a:pPr>
            <a:r>
              <a:rPr sz="2025" b="0">
                <a:solidFill>
                  <a:srgbClr val="FFFFFF"/>
                </a:solidFill>
                <a:latin typeface="DejaVu Sans"/>
                <a:ea typeface="DejaVu Sans"/>
                <a:cs typeface="DejaVu Sans"/>
              </a:rPr>
              <a:t>dentro del panel de demostración.</a:t>
            </a:r>
          </a:p>
        </p:txBody>
      </p:sp>
    </p:spTree>
    <p:extLst>
      <p:ext uri="{BB962C8B-B14F-4D97-AF65-F5344CB8AC3E}">
        <p14:creationId xmlns:p14="http://schemas.microsoft.com/office/powerpoint/2010/main" val="1106155048"/>
      </p:ext>
    </p:extLst>
  </p:cSld>
</p:sld>
</file>

<file path=ppt/slides/slide4.xml><?xml version="1.0" encoding="utf-8"?>
<p:sld xmlns:p="http://schemas.openxmlformats.org/presentationml/2006/main">
  <p:cSld>
    <p:bg>
      <p:bgPr>
        <a:solidFill xmlns:a="http://schemas.openxmlformats.org/drawingml/2006/main">
          <a:srgbClr val="F7F9F8"/>
        </a:solidFill>
      </p:bgPr>
    </p:bg>
    <p:spTree>
      <p:nvGrpSpPr>
        <p:cNvPr id="1" name=""/>
        <p:cNvGrpSpPr/>
        <p:nvPr/>
      </p:nvGrpSpPr>
      <p:grpSpPr>
        <a:xfrm xmlns:a="http://schemas.openxmlformats.org/drawingml/2006/main"/>
      </p:grpSpPr>
      <p:sp>
        <p:nvSpPr>
          <p:cNvPr id="7" name="Un catálogo fácil de explorar">
            <a:extLst xmlns:a="http://schemas.openxmlformats.org/drawingml/2006/main">
              <a:ext uri="{FF2B5EF4-FFF2-40B4-BE49-F238E27FC236}">
                <a16:creationId xmlns:a16="http://schemas.microsoft.com/office/drawing/2014/main" id="{F6730798-B76F-4C63-9BC4-0BC42C21EAA2}"/>
              </a:ext>
            </a:extLst>
          </p:cNvPr>
          <p:cNvSpPr>
            <a:spLocks xmlns:a="http://schemas.openxmlformats.org/drawingml/2006/main" noGrp="1"/>
          </p:cNvSpPr>
          <p:nvPr/>
        </p:nvSpPr>
        <p:spPr>
          <a:xfrm xmlns:a="http://schemas.openxmlformats.org/drawingml/2006/main">
            <a:off x="647700" y="457200"/>
            <a:ext cx="108966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205942"/>
                </a:solidFill>
                <a:latin typeface="DejaVu Sans"/>
                <a:ea typeface="DejaVu Sans"/>
                <a:cs typeface="DejaVu Sans"/>
              </a:defRPr>
            </a:pPr>
            <a:r>
              <a:rPr sz="3300" b="1">
                <a:solidFill>
                  <a:srgbClr val="205942"/>
                </a:solidFill>
                <a:latin typeface="DejaVu Sans"/>
                <a:ea typeface="DejaVu Sans"/>
                <a:cs typeface="DejaVu Sans"/>
              </a:rPr>
              <a:t>Un catálogo fácil de explorar</a:t>
            </a:r>
          </a:p>
        </p:txBody>
      </p:sp>
      <p:sp>
        <p:nvSpPr>
          <p:cNvPr id="2" name="04">
            <a:extLst xmlns:a="http://schemas.openxmlformats.org/drawingml/2006/main">
              <a:ext uri="{FF2B5EF4-FFF2-40B4-BE49-F238E27FC236}">
                <a16:creationId xmlns:a16="http://schemas.microsoft.com/office/drawing/2014/main" id="{BE611057-3E82-456D-A545-06D64C20EE66}"/>
              </a:ext>
            </a:extLst>
          </p:cNvPr>
          <p:cNvSpPr>
            <a:spLocks xmlns:a="http://schemas.openxmlformats.org/drawingml/2006/main" noGrp="1"/>
          </p:cNvSpPr>
          <p:nvPr/>
        </p:nvSpPr>
        <p:spPr>
          <a:xfrm xmlns:a="http://schemas.openxmlformats.org/drawingml/2006/main">
            <a:off x="11144250" y="6400800"/>
            <a:ext cx="419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A6B64"/>
                </a:solidFill>
                <a:latin typeface="DejaVu Sans"/>
                <a:ea typeface="DejaVu Sans"/>
                <a:cs typeface="DejaVu Sans"/>
              </a:defRPr>
            </a:pPr>
            <a:r>
              <a:rPr sz="1275" b="0">
                <a:solidFill>
                  <a:srgbClr val="5A6B64"/>
                </a:solidFill>
                <a:latin typeface="DejaVu Sans"/>
                <a:ea typeface="DejaVu Sans"/>
                <a:cs typeface="DejaVu Sans"/>
              </a:rPr>
              <a:t>04</a:t>
            </a:r>
          </a:p>
        </p:txBody>
      </p:sp>
      <p:sp>
        <p:nvSpPr>
          <p:cNvPr id="3" name="12 productos y servicios de muestra">
            <a:extLst xmlns:a="http://schemas.openxmlformats.org/drawingml/2006/main">
              <a:ext uri="{FF2B5EF4-FFF2-40B4-BE49-F238E27FC236}">
                <a16:creationId xmlns:a16="http://schemas.microsoft.com/office/drawing/2014/main" id="{4C347BE1-F0DD-41C6-97C6-FC91D801F1F5}"/>
              </a:ext>
            </a:extLst>
          </p:cNvPr>
          <p:cNvSpPr>
            <a:spLocks xmlns:a="http://schemas.openxmlformats.org/drawingml/2006/main" noGrp="1"/>
          </p:cNvSpPr>
          <p:nvPr/>
        </p:nvSpPr>
        <p:spPr>
          <a:xfrm xmlns:a="http://schemas.openxmlformats.org/drawingml/2006/main">
            <a:off x="685800" y="1619250"/>
            <a:ext cx="1047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75" b="1">
                <a:solidFill>
                  <a:srgbClr val="205942"/>
                </a:solidFill>
                <a:latin typeface="DejaVu Sans"/>
                <a:ea typeface="DejaVu Sans"/>
                <a:cs typeface="DejaVu Sans"/>
              </a:defRPr>
            </a:pPr>
            <a:r>
              <a:rPr sz="2475" b="1">
                <a:solidFill>
                  <a:srgbClr val="205942"/>
                </a:solidFill>
                <a:latin typeface="DejaVu Sans"/>
                <a:ea typeface="DejaVu Sans"/>
                <a:cs typeface="DejaVu Sans"/>
              </a:rPr>
              <a:t>12 productos y servicios de muestra</a:t>
            </a:r>
          </a:p>
        </p:txBody>
      </p:sp>
      <p:sp>
        <p:nvSpPr>
          <p:cNvPr id="4" name="Filtros por 7 categorías, detalle del product">
            <a:extLst xmlns:a="http://schemas.openxmlformats.org/drawingml/2006/main">
              <a:ext uri="{FF2B5EF4-FFF2-40B4-BE49-F238E27FC236}">
                <a16:creationId xmlns:a16="http://schemas.microsoft.com/office/drawing/2014/main" id="{ABEF336B-387A-4F99-A01B-C16F6730ACE6}"/>
              </a:ext>
            </a:extLst>
          </p:cNvPr>
          <p:cNvSpPr>
            <a:spLocks xmlns:a="http://schemas.openxmlformats.org/drawingml/2006/main" noGrp="1"/>
          </p:cNvSpPr>
          <p:nvPr/>
        </p:nvSpPr>
        <p:spPr>
          <a:xfrm xmlns:a="http://schemas.openxmlformats.org/drawingml/2006/main">
            <a:off x="685800" y="2257425"/>
            <a:ext cx="1047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23312C"/>
                </a:solidFill>
                <a:latin typeface="DejaVu Sans"/>
                <a:ea typeface="DejaVu Sans"/>
                <a:cs typeface="DejaVu Sans"/>
              </a:defRPr>
            </a:pPr>
            <a:r>
              <a:rPr sz="2025" b="0">
                <a:solidFill>
                  <a:srgbClr val="23312C"/>
                </a:solidFill>
                <a:latin typeface="DejaVu Sans"/>
                <a:ea typeface="DejaVu Sans"/>
                <a:cs typeface="DejaVu Sans"/>
              </a:rPr>
              <a:t>Filtros por 7 categorías, detalle del producto y precios en pesos chilenos.</a:t>
            </a:r>
          </a:p>
        </p:txBody>
      </p:sp>
      <p:graphicFrame>
        <p:nvGraphicFramePr>
          <p:cNvPr id="11" name=""/>
          <p:cNvGraphicFramePr/>
          <p:nvPr/>
        </p:nvGraphicFramePr>
        <p:xfrm>
          <a:off xmlns:a="http://schemas.openxmlformats.org/drawingml/2006/main" x="685800" y="3086100"/>
          <a:ext xmlns:a="http://schemas.openxmlformats.org/drawingml/2006/main" cx="10820400" cy="2514600"/>
        </p:xfrm>
        <a:graphic xmlns:a="http://schemas.openxmlformats.org/drawingml/2006/main">
          <a:graphicData uri="http://schemas.openxmlformats.org/drawingml/2006/table">
            <a:tbl>
              <a:tblPr/>
              <a:tblGrid>
                <a:gridCol w="5381625"/>
                <a:gridCol w="3048000"/>
                <a:gridCol w="2390775"/>
              </a:tblGrid>
              <a:tr h="628650">
                <a:tc>
                  <a:txBody>
                    <a:bodyPr/>
                    <a:lstStyle/>
                    <a:p>
                      <a:r>
                        <a:rPr sz="1800" b="1">
                          <a:solidFill>
                            <a:srgbClr val="FFFFFF"/>
                          </a:solidFill>
                          <a:latin typeface="DejaVu Sans"/>
                          <a:ea typeface="DejaVu Sans"/>
                          <a:cs typeface="DejaVu Sans"/>
                        </a:rPr>
                        <a:t>Ejemplo del catálogo</a:t>
                      </a:r>
                    </a:p>
                  </a:txBody>
                  <a:tcPr marL="133350" marR="133350" marT="114300" marB="95250" anchor="ctr">
                    <a:solidFill>
                      <a:srgbClr val="205942"/>
                    </a:solidFill>
                  </a:tcPr>
                </a:tc>
                <a:tc>
                  <a:txBody>
                    <a:bodyPr/>
                    <a:lstStyle/>
                    <a:p>
                      <a:r>
                        <a:rPr sz="1800" b="1">
                          <a:solidFill>
                            <a:srgbClr val="FFFFFF"/>
                          </a:solidFill>
                          <a:latin typeface="DejaVu Sans"/>
                          <a:ea typeface="DejaVu Sans"/>
                          <a:cs typeface="DejaVu Sans"/>
                        </a:rPr>
                        <a:t>Categoría</a:t>
                      </a:r>
                    </a:p>
                  </a:txBody>
                  <a:tcPr marL="133350" marR="133350" marT="114300" marB="95250" anchor="ctr">
                    <a:solidFill>
                      <a:srgbClr val="205942"/>
                    </a:solidFill>
                  </a:tcPr>
                </a:tc>
                <a:tc>
                  <a:txBody>
                    <a:bodyPr/>
                    <a:lstStyle/>
                    <a:p>
                      <a:r>
                        <a:rPr sz="1800" b="1">
                          <a:solidFill>
                            <a:srgbClr val="FFFFFF"/>
                          </a:solidFill>
                          <a:latin typeface="DejaVu Sans"/>
                          <a:ea typeface="DejaVu Sans"/>
                          <a:cs typeface="DejaVu Sans"/>
                        </a:rPr>
                        <a:t>Precio CLP</a:t>
                      </a:r>
                    </a:p>
                  </a:txBody>
                  <a:tcPr marL="133350" marR="133350" marT="114300" marB="95250" anchor="ctr">
                    <a:solidFill>
                      <a:srgbClr val="205942"/>
                    </a:solidFill>
                  </a:tcPr>
                </a:tc>
              </a:tr>
              <a:tr h="628650">
                <a:tc>
                  <a:txBody>
                    <a:bodyPr/>
                    <a:lstStyle/>
                    <a:p>
                      <a:r>
                        <a:rPr sz="1800">
                          <a:solidFill>
                            <a:srgbClr val="23312C"/>
                          </a:solidFill>
                          <a:latin typeface="DejaVu Sans"/>
                          <a:ea typeface="DejaVu Sans"/>
                          <a:cs typeface="DejaVu Sans"/>
                        </a:rPr>
                        <a:t>Clorhexidina shampoo</a:t>
                      </a:r>
                    </a:p>
                  </a:txBody>
                  <a:tcPr marL="133350" marR="133350" marT="114300" marB="95250" anchor="ctr">
                    <a:solidFill>
                      <a:srgbClr val="FFFFFF"/>
                    </a:solidFill>
                  </a:tcPr>
                </a:tc>
                <a:tc>
                  <a:txBody>
                    <a:bodyPr/>
                    <a:lstStyle/>
                    <a:p>
                      <a:r>
                        <a:rPr sz="1800">
                          <a:solidFill>
                            <a:srgbClr val="23312C"/>
                          </a:solidFill>
                          <a:latin typeface="DejaVu Sans"/>
                          <a:ea typeface="DejaVu Sans"/>
                          <a:cs typeface="DejaVu Sans"/>
                        </a:rPr>
                        <a:t>Dermatología</a:t>
                      </a:r>
                    </a:p>
                  </a:txBody>
                  <a:tcPr marL="133350" marR="133350" marT="114300" marB="95250" anchor="ctr">
                    <a:solidFill>
                      <a:srgbClr val="FFFFFF"/>
                    </a:solidFill>
                  </a:tcPr>
                </a:tc>
                <a:tc>
                  <a:txBody>
                    <a:bodyPr/>
                    <a:lstStyle/>
                    <a:p>
                      <a:r>
                        <a:rPr sz="1800">
                          <a:solidFill>
                            <a:srgbClr val="23312C"/>
                          </a:solidFill>
                          <a:latin typeface="DejaVu Sans"/>
                          <a:ea typeface="DejaVu Sans"/>
                          <a:cs typeface="DejaVu Sans"/>
                        </a:rPr>
                        <a:t>$8.900</a:t>
                      </a:r>
                    </a:p>
                  </a:txBody>
                  <a:tcPr marL="133350" marR="133350" marT="114300" marB="95250" anchor="ctr">
                    <a:solidFill>
                      <a:srgbClr val="FFFFFF"/>
                    </a:solidFill>
                  </a:tcPr>
                </a:tc>
              </a:tr>
              <a:tr h="628650">
                <a:tc>
                  <a:txBody>
                    <a:bodyPr/>
                    <a:lstStyle/>
                    <a:p>
                      <a:r>
                        <a:rPr sz="1800">
                          <a:solidFill>
                            <a:srgbClr val="23312C"/>
                          </a:solidFill>
                          <a:latin typeface="DejaVu Sans"/>
                          <a:ea typeface="DejaVu Sans"/>
                          <a:cs typeface="DejaVu Sans"/>
                        </a:rPr>
                        <a:t>Omega vet 3-6-9</a:t>
                      </a:r>
                    </a:p>
                  </a:txBody>
                  <a:tcPr marL="133350" marR="133350" marT="114300" marB="95250" anchor="ctr">
                    <a:solidFill>
                      <a:srgbClr val="FFFFFF"/>
                    </a:solidFill>
                  </a:tcPr>
                </a:tc>
                <a:tc>
                  <a:txBody>
                    <a:bodyPr/>
                    <a:lstStyle/>
                    <a:p>
                      <a:r>
                        <a:rPr sz="1800">
                          <a:solidFill>
                            <a:srgbClr val="23312C"/>
                          </a:solidFill>
                          <a:latin typeface="DejaVu Sans"/>
                          <a:ea typeface="DejaVu Sans"/>
                          <a:cs typeface="DejaVu Sans"/>
                        </a:rPr>
                        <a:t>Suplementos</a:t>
                      </a:r>
                    </a:p>
                  </a:txBody>
                  <a:tcPr marL="133350" marR="133350" marT="114300" marB="95250" anchor="ctr">
                    <a:solidFill>
                      <a:srgbClr val="FFFFFF"/>
                    </a:solidFill>
                  </a:tcPr>
                </a:tc>
                <a:tc>
                  <a:txBody>
                    <a:bodyPr/>
                    <a:lstStyle/>
                    <a:p>
                      <a:r>
                        <a:rPr sz="1800">
                          <a:solidFill>
                            <a:srgbClr val="23312C"/>
                          </a:solidFill>
                          <a:latin typeface="DejaVu Sans"/>
                          <a:ea typeface="DejaVu Sans"/>
                          <a:cs typeface="DejaVu Sans"/>
                        </a:rPr>
                        <a:t>$9.900</a:t>
                      </a:r>
                    </a:p>
                  </a:txBody>
                  <a:tcPr marL="133350" marR="133350" marT="114300" marB="95250" anchor="ctr">
                    <a:solidFill>
                      <a:srgbClr val="FFFFFF"/>
                    </a:solidFill>
                  </a:tcPr>
                </a:tc>
              </a:tr>
              <a:tr h="628650">
                <a:tc>
                  <a:txBody>
                    <a:bodyPr/>
                    <a:lstStyle/>
                    <a:p>
                      <a:r>
                        <a:rPr sz="1800">
                          <a:solidFill>
                            <a:srgbClr val="23312C"/>
                          </a:solidFill>
                          <a:latin typeface="DejaVu Sans"/>
                          <a:ea typeface="DejaVu Sans"/>
                          <a:cs typeface="DejaVu Sans"/>
                        </a:rPr>
                        <a:t>Corte de uñas</a:t>
                      </a:r>
                    </a:p>
                  </a:txBody>
                  <a:tcPr marL="133350" marR="133350" marT="114300" marB="95250" anchor="ctr">
                    <a:solidFill>
                      <a:srgbClr val="FFFFFF"/>
                    </a:solidFill>
                  </a:tcPr>
                </a:tc>
                <a:tc>
                  <a:txBody>
                    <a:bodyPr/>
                    <a:lstStyle/>
                    <a:p>
                      <a:r>
                        <a:rPr sz="1800">
                          <a:solidFill>
                            <a:srgbClr val="23312C"/>
                          </a:solidFill>
                          <a:latin typeface="DejaVu Sans"/>
                          <a:ea typeface="DejaVu Sans"/>
                          <a:cs typeface="DejaVu Sans"/>
                        </a:rPr>
                        <a:t>Servicios</a:t>
                      </a:r>
                    </a:p>
                  </a:txBody>
                  <a:tcPr marL="133350" marR="133350" marT="114300" marB="95250" anchor="ctr">
                    <a:solidFill>
                      <a:srgbClr val="FFFFFF"/>
                    </a:solidFill>
                  </a:tcPr>
                </a:tc>
                <a:tc>
                  <a:txBody>
                    <a:bodyPr/>
                    <a:lstStyle/>
                    <a:p>
                      <a:r>
                        <a:rPr sz="1800">
                          <a:solidFill>
                            <a:srgbClr val="23312C"/>
                          </a:solidFill>
                          <a:latin typeface="DejaVu Sans"/>
                          <a:ea typeface="DejaVu Sans"/>
                          <a:cs typeface="DejaVu Sans"/>
                        </a:rPr>
                        <a:t>$5.000</a:t>
                      </a:r>
                    </a:p>
                  </a:txBody>
                  <a:tcPr marL="133350" marR="133350" marT="114300" marB="95250" anchor="ctr">
                    <a:solidFill>
                      <a:srgbClr val="FFFFFF"/>
                    </a:solidFill>
                  </a:tcPr>
                </a:tc>
              </a:tr>
            </a:tbl>
          </a:graphicData>
        </a:graphic>
      </p:graphicFrame>
      <p:sp>
        <p:nvSpPr>
          <p:cNvPr id="6" name="El dueño puede revisar la oferta antes de dec">
            <a:extLst xmlns:a="http://schemas.openxmlformats.org/drawingml/2006/main">
              <a:ext uri="{FF2B5EF4-FFF2-40B4-BE49-F238E27FC236}">
                <a16:creationId xmlns:a16="http://schemas.microsoft.com/office/drawing/2014/main" id="{7AD77A78-B3D7-4556-B343-BB974D90CA2F}"/>
              </a:ext>
            </a:extLst>
          </p:cNvPr>
          <p:cNvSpPr>
            <a:spLocks xmlns:a="http://schemas.openxmlformats.org/drawingml/2006/main" noGrp="1"/>
          </p:cNvSpPr>
          <p:nvPr/>
        </p:nvSpPr>
        <p:spPr>
          <a:xfrm xmlns:a="http://schemas.openxmlformats.org/drawingml/2006/main">
            <a:off x="685800" y="5848350"/>
            <a:ext cx="10668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1">
                <a:solidFill>
                  <a:srgbClr val="205942"/>
                </a:solidFill>
                <a:latin typeface="DejaVu Sans"/>
                <a:ea typeface="DejaVu Sans"/>
                <a:cs typeface="DejaVu Sans"/>
              </a:defRPr>
            </a:pPr>
            <a:r>
              <a:rPr sz="2100" b="1">
                <a:solidFill>
                  <a:srgbClr val="205942"/>
                </a:solidFill>
                <a:latin typeface="DejaVu Sans"/>
                <a:ea typeface="DejaVu Sans"/>
                <a:cs typeface="DejaVu Sans"/>
              </a:rPr>
              <a:t>El dueño puede revisar la oferta antes de decidir.</a:t>
            </a:r>
          </a:p>
        </p:txBody>
      </p:sp>
    </p:spTree>
    <p:extLst>
      <p:ext uri="{BB962C8B-B14F-4D97-AF65-F5344CB8AC3E}">
        <p14:creationId xmlns:p14="http://schemas.microsoft.com/office/powerpoint/2010/main" val="1420418558"/>
      </p:ext>
    </p:extLst>
  </p:cSld>
</p:sld>
</file>

<file path=ppt/slides/slide5.xml><?xml version="1.0" encoding="utf-8"?>
<p:sld xmlns:p="http://schemas.openxmlformats.org/presentationml/2006/main">
  <p:cSld>
    <p:bg>
      <p:bgPr>
        <a:solidFill xmlns:a="http://schemas.openxmlformats.org/drawingml/2006/main">
          <a:srgbClr val="F7F9F8"/>
        </a:solidFill>
      </p:bgPr>
    </p:bg>
    <p:spTree>
      <p:nvGrpSpPr>
        <p:cNvPr id="1" name=""/>
        <p:cNvGrpSpPr/>
        <p:nvPr/>
      </p:nvGrpSpPr>
      <p:grpSpPr>
        <a:xfrm xmlns:a="http://schemas.openxmlformats.org/drawingml/2006/main"/>
      </p:grpSpPr>
      <p:sp>
        <p:nvSpPr>
          <p:cNvPr id="10" name="Un carrito con el total a la vista">
            <a:extLst xmlns:a="http://schemas.openxmlformats.org/drawingml/2006/main">
              <a:ext uri="{FF2B5EF4-FFF2-40B4-BE49-F238E27FC236}">
                <a16:creationId xmlns:a16="http://schemas.microsoft.com/office/drawing/2014/main" id="{9547E0EF-257E-4A5C-BEC7-5A1C323F3464}"/>
              </a:ext>
            </a:extLst>
          </p:cNvPr>
          <p:cNvSpPr>
            <a:spLocks xmlns:a="http://schemas.openxmlformats.org/drawingml/2006/main" noGrp="1"/>
          </p:cNvSpPr>
          <p:nvPr/>
        </p:nvSpPr>
        <p:spPr>
          <a:xfrm xmlns:a="http://schemas.openxmlformats.org/drawingml/2006/main">
            <a:off x="647700" y="457200"/>
            <a:ext cx="108966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205942"/>
                </a:solidFill>
                <a:latin typeface="DejaVu Sans"/>
                <a:ea typeface="DejaVu Sans"/>
                <a:cs typeface="DejaVu Sans"/>
              </a:defRPr>
            </a:pPr>
            <a:r>
              <a:rPr sz="3300" b="1">
                <a:solidFill>
                  <a:srgbClr val="205942"/>
                </a:solidFill>
                <a:latin typeface="DejaVu Sans"/>
                <a:ea typeface="DejaVu Sans"/>
                <a:cs typeface="DejaVu Sans"/>
              </a:rPr>
              <a:t>Un carrito con el total a la vista</a:t>
            </a:r>
          </a:p>
        </p:txBody>
      </p:sp>
      <p:sp>
        <p:nvSpPr>
          <p:cNvPr id="2" name="05">
            <a:extLst xmlns:a="http://schemas.openxmlformats.org/drawingml/2006/main">
              <a:ext uri="{FF2B5EF4-FFF2-40B4-BE49-F238E27FC236}">
                <a16:creationId xmlns:a16="http://schemas.microsoft.com/office/drawing/2014/main" id="{B0BC8781-D446-4501-B71D-B1D3419E73F2}"/>
              </a:ext>
            </a:extLst>
          </p:cNvPr>
          <p:cNvSpPr>
            <a:spLocks xmlns:a="http://schemas.openxmlformats.org/drawingml/2006/main" noGrp="1"/>
          </p:cNvSpPr>
          <p:nvPr/>
        </p:nvSpPr>
        <p:spPr>
          <a:xfrm xmlns:a="http://schemas.openxmlformats.org/drawingml/2006/main">
            <a:off x="11144250" y="6400800"/>
            <a:ext cx="419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A6B64"/>
                </a:solidFill>
                <a:latin typeface="DejaVu Sans"/>
                <a:ea typeface="DejaVu Sans"/>
                <a:cs typeface="DejaVu Sans"/>
              </a:defRPr>
            </a:pPr>
            <a:r>
              <a:rPr sz="1275" b="0">
                <a:solidFill>
                  <a:srgbClr val="5A6B64"/>
                </a:solidFill>
                <a:latin typeface="DejaVu Sans"/>
                <a:ea typeface="DejaVu Sans"/>
                <a:cs typeface="DejaVu Sans"/>
              </a:rPr>
              <a:t>05</a:t>
            </a:r>
          </a:p>
        </p:txBody>
      </p:sp>
      <p:sp>
        <p:nvSpPr>
          <p:cNvPr id="3" name="Ejemplo de compra">
            <a:extLst xmlns:a="http://schemas.openxmlformats.org/drawingml/2006/main">
              <a:ext uri="{FF2B5EF4-FFF2-40B4-BE49-F238E27FC236}">
                <a16:creationId xmlns:a16="http://schemas.microsoft.com/office/drawing/2014/main" id="{C107C1DA-181F-43B3-8F5C-9F91F0B54735}"/>
              </a:ext>
            </a:extLst>
          </p:cNvPr>
          <p:cNvSpPr>
            <a:spLocks xmlns:a="http://schemas.openxmlformats.org/drawingml/2006/main" noGrp="1"/>
          </p:cNvSpPr>
          <p:nvPr/>
        </p:nvSpPr>
        <p:spPr>
          <a:xfrm xmlns:a="http://schemas.openxmlformats.org/drawingml/2006/main">
            <a:off x="685800" y="1647825"/>
            <a:ext cx="7620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205942"/>
                </a:solidFill>
                <a:latin typeface="DejaVu Sans"/>
                <a:ea typeface="DejaVu Sans"/>
                <a:cs typeface="DejaVu Sans"/>
              </a:defRPr>
            </a:pPr>
            <a:r>
              <a:rPr sz="2250" b="1">
                <a:solidFill>
                  <a:srgbClr val="205942"/>
                </a:solidFill>
                <a:latin typeface="DejaVu Sans"/>
                <a:ea typeface="DejaVu Sans"/>
                <a:cs typeface="DejaVu Sans"/>
              </a:rPr>
              <a:t>Ejemplo de compra</a:t>
            </a:r>
          </a:p>
        </p:txBody>
      </p:sp>
      <p:graphicFrame>
        <p:nvGraphicFramePr>
          <p:cNvPr id="13" name=""/>
          <p:cNvGraphicFramePr/>
          <p:nvPr/>
        </p:nvGraphicFramePr>
        <p:xfrm>
          <a:off xmlns:a="http://schemas.openxmlformats.org/drawingml/2006/main" x="685800" y="2333625"/>
          <a:ext xmlns:a="http://schemas.openxmlformats.org/drawingml/2006/main" cx="7191375" cy="2819400"/>
        </p:xfrm>
        <a:graphic xmlns:a="http://schemas.openxmlformats.org/drawingml/2006/main">
          <a:graphicData uri="http://schemas.openxmlformats.org/drawingml/2006/table">
            <a:tbl>
              <a:tblPr/>
              <a:tblGrid>
                <a:gridCol w="3876675"/>
                <a:gridCol w="1314450"/>
                <a:gridCol w="2000250"/>
              </a:tblGrid>
              <a:tr h="704850">
                <a:tc>
                  <a:txBody>
                    <a:bodyPr/>
                    <a:lstStyle/>
                    <a:p>
                      <a:r>
                        <a:rPr sz="1725" b="1">
                          <a:solidFill>
                            <a:srgbClr val="FFFFFF"/>
                          </a:solidFill>
                          <a:latin typeface="DejaVu Sans"/>
                          <a:ea typeface="DejaVu Sans"/>
                          <a:cs typeface="DejaVu Sans"/>
                        </a:rPr>
                        <a:t>Selección</a:t>
                      </a:r>
                    </a:p>
                  </a:txBody>
                  <a:tcPr marL="133350" marR="133350" marT="114300" marB="95250" anchor="ctr">
                    <a:solidFill>
                      <a:srgbClr val="205942"/>
                    </a:solidFill>
                  </a:tcPr>
                </a:tc>
                <a:tc>
                  <a:txBody>
                    <a:bodyPr/>
                    <a:lstStyle/>
                    <a:p>
                      <a:r>
                        <a:rPr sz="1725" b="1">
                          <a:solidFill>
                            <a:srgbClr val="FFFFFF"/>
                          </a:solidFill>
                          <a:latin typeface="DejaVu Sans"/>
                          <a:ea typeface="DejaVu Sans"/>
                          <a:cs typeface="DejaVu Sans"/>
                        </a:rPr>
                        <a:t>Cant.</a:t>
                      </a:r>
                    </a:p>
                  </a:txBody>
                  <a:tcPr marL="133350" marR="133350" marT="114300" marB="95250" anchor="ctr">
                    <a:solidFill>
                      <a:srgbClr val="205942"/>
                    </a:solidFill>
                  </a:tcPr>
                </a:tc>
                <a:tc>
                  <a:txBody>
                    <a:bodyPr/>
                    <a:lstStyle/>
                    <a:p>
                      <a:r>
                        <a:rPr sz="1725" b="1">
                          <a:solidFill>
                            <a:srgbClr val="FFFFFF"/>
                          </a:solidFill>
                          <a:latin typeface="DejaVu Sans"/>
                          <a:ea typeface="DejaVu Sans"/>
                          <a:cs typeface="DejaVu Sans"/>
                        </a:rPr>
                        <a:t>Subtotal CLP</a:t>
                      </a:r>
                    </a:p>
                  </a:txBody>
                  <a:tcPr marL="133350" marR="133350" marT="114300" marB="95250" anchor="ctr">
                    <a:solidFill>
                      <a:srgbClr val="205942"/>
                    </a:solidFill>
                  </a:tcPr>
                </a:tc>
              </a:tr>
              <a:tr h="704850">
                <a:tc>
                  <a:txBody>
                    <a:bodyPr/>
                    <a:lstStyle/>
                    <a:p>
                      <a:r>
                        <a:rPr sz="1725">
                          <a:solidFill>
                            <a:srgbClr val="23312C"/>
                          </a:solidFill>
                          <a:latin typeface="DejaVu Sans"/>
                          <a:ea typeface="DejaVu Sans"/>
                          <a:cs typeface="DejaVu Sans"/>
                        </a:rPr>
                        <a:t>Clorhexidina shampoo</a:t>
                      </a:r>
                    </a:p>
                  </a:txBody>
                  <a:tcPr marL="133350" marR="133350" marT="114300" marB="95250" anchor="ctr">
                    <a:solidFill>
                      <a:srgbClr val="FFFFFF"/>
                    </a:solidFill>
                  </a:tcPr>
                </a:tc>
                <a:tc>
                  <a:txBody>
                    <a:bodyPr/>
                    <a:lstStyle/>
                    <a:p>
                      <a:r>
                        <a:rPr sz="1725">
                          <a:solidFill>
                            <a:srgbClr val="23312C"/>
                          </a:solidFill>
                          <a:latin typeface="DejaVu Sans"/>
                          <a:ea typeface="DejaVu Sans"/>
                          <a:cs typeface="DejaVu Sans"/>
                        </a:rPr>
                        <a:t>2</a:t>
                      </a:r>
                    </a:p>
                  </a:txBody>
                  <a:tcPr marL="133350" marR="133350" marT="114300" marB="95250" anchor="ctr">
                    <a:solidFill>
                      <a:srgbClr val="FFFFFF"/>
                    </a:solidFill>
                  </a:tcPr>
                </a:tc>
                <a:tc>
                  <a:txBody>
                    <a:bodyPr/>
                    <a:lstStyle/>
                    <a:p>
                      <a:r>
                        <a:rPr sz="1725">
                          <a:solidFill>
                            <a:srgbClr val="23312C"/>
                          </a:solidFill>
                          <a:latin typeface="DejaVu Sans"/>
                          <a:ea typeface="DejaVu Sans"/>
                          <a:cs typeface="DejaVu Sans"/>
                        </a:rPr>
                        <a:t>$17.800</a:t>
                      </a:r>
                    </a:p>
                  </a:txBody>
                  <a:tcPr marL="133350" marR="133350" marT="114300" marB="95250" anchor="ctr">
                    <a:solidFill>
                      <a:srgbClr val="FFFFFF"/>
                    </a:solidFill>
                  </a:tcPr>
                </a:tc>
              </a:tr>
              <a:tr h="704850">
                <a:tc>
                  <a:txBody>
                    <a:bodyPr/>
                    <a:lstStyle/>
                    <a:p>
                      <a:r>
                        <a:rPr sz="1725">
                          <a:solidFill>
                            <a:srgbClr val="23312C"/>
                          </a:solidFill>
                          <a:latin typeface="DejaVu Sans"/>
                          <a:ea typeface="DejaVu Sans"/>
                          <a:cs typeface="DejaVu Sans"/>
                        </a:rPr>
                        <a:t>Corte de uñas</a:t>
                      </a:r>
                    </a:p>
                  </a:txBody>
                  <a:tcPr marL="133350" marR="133350" marT="114300" marB="95250" anchor="ctr">
                    <a:solidFill>
                      <a:srgbClr val="FFFFFF"/>
                    </a:solidFill>
                  </a:tcPr>
                </a:tc>
                <a:tc>
                  <a:txBody>
                    <a:bodyPr/>
                    <a:lstStyle/>
                    <a:p>
                      <a:r>
                        <a:rPr sz="1725">
                          <a:solidFill>
                            <a:srgbClr val="23312C"/>
                          </a:solidFill>
                          <a:latin typeface="DejaVu Sans"/>
                          <a:ea typeface="DejaVu Sans"/>
                          <a:cs typeface="DejaVu Sans"/>
                        </a:rPr>
                        <a:t>1</a:t>
                      </a:r>
                    </a:p>
                  </a:txBody>
                  <a:tcPr marL="133350" marR="133350" marT="114300" marB="95250" anchor="ctr">
                    <a:solidFill>
                      <a:srgbClr val="FFFFFF"/>
                    </a:solidFill>
                  </a:tcPr>
                </a:tc>
                <a:tc>
                  <a:txBody>
                    <a:bodyPr/>
                    <a:lstStyle/>
                    <a:p>
                      <a:r>
                        <a:rPr sz="1725">
                          <a:solidFill>
                            <a:srgbClr val="23312C"/>
                          </a:solidFill>
                          <a:latin typeface="DejaVu Sans"/>
                          <a:ea typeface="DejaVu Sans"/>
                          <a:cs typeface="DejaVu Sans"/>
                        </a:rPr>
                        <a:t>$5.000</a:t>
                      </a:r>
                    </a:p>
                  </a:txBody>
                  <a:tcPr marL="133350" marR="133350" marT="114300" marB="95250" anchor="ctr">
                    <a:solidFill>
                      <a:srgbClr val="FFFFFF"/>
                    </a:solidFill>
                  </a:tcPr>
                </a:tc>
              </a:tr>
              <a:tr h="704850">
                <a:tc>
                  <a:txBody>
                    <a:bodyPr/>
                    <a:lstStyle/>
                    <a:p>
                      <a:r>
                        <a:rPr sz="1725">
                          <a:solidFill>
                            <a:srgbClr val="23312C"/>
                          </a:solidFill>
                          <a:latin typeface="DejaVu Sans"/>
                          <a:ea typeface="DejaVu Sans"/>
                          <a:cs typeface="DejaVu Sans"/>
                        </a:rPr>
                        <a:t>Total de ejemplo</a:t>
                      </a:r>
                    </a:p>
                  </a:txBody>
                  <a:tcPr marL="133350" marR="133350" marT="114300" marB="95250" anchor="ctr">
                    <a:solidFill>
                      <a:srgbClr val="FFFFFF"/>
                    </a:solidFill>
                  </a:tcPr>
                </a:tc>
                <a:tc>
                  <a:txBody>
                    <a:bodyPr/>
                    <a:lstStyle/>
                    <a:p>
                      <a:r>
                        <a:rPr sz="1725">
                          <a:solidFill>
                            <a:srgbClr val="23312C"/>
                          </a:solidFill>
                          <a:latin typeface="DejaVu Sans"/>
                          <a:ea typeface="DejaVu Sans"/>
                          <a:cs typeface="DejaVu Sans"/>
                        </a:rPr>
                        <a:t/>
                      </a:r>
                    </a:p>
                  </a:txBody>
                  <a:tcPr marL="133350" marR="133350" marT="114300" marB="95250" anchor="ctr">
                    <a:solidFill>
                      <a:srgbClr val="FFFFFF"/>
                    </a:solidFill>
                  </a:tcPr>
                </a:tc>
                <a:tc>
                  <a:txBody>
                    <a:bodyPr/>
                    <a:lstStyle/>
                    <a:p>
                      <a:r>
                        <a:rPr sz="1725">
                          <a:solidFill>
                            <a:srgbClr val="23312C"/>
                          </a:solidFill>
                          <a:latin typeface="DejaVu Sans"/>
                          <a:ea typeface="DejaVu Sans"/>
                          <a:cs typeface="DejaVu Sans"/>
                        </a:rPr>
                        <a:t>$22.800</a:t>
                      </a:r>
                    </a:p>
                  </a:txBody>
                  <a:tcPr marL="133350" marR="133350" marT="114300" marB="95250" anchor="ctr">
                    <a:solidFill>
                      <a:srgbClr val="FFFFFF"/>
                    </a:solidFill>
                  </a:tcPr>
                </a:tc>
              </a:tr>
            </a:tbl>
          </a:graphicData>
        </a:graphic>
      </p:graphicFrame>
      <p:sp>
        <p:nvSpPr>
          <p:cNvPr id="5" name="Tu selección">
            <a:extLst xmlns:a="http://schemas.openxmlformats.org/drawingml/2006/main">
              <a:ext uri="{FF2B5EF4-FFF2-40B4-BE49-F238E27FC236}">
                <a16:creationId xmlns:a16="http://schemas.microsoft.com/office/drawing/2014/main" id="{047D7273-4CAA-4997-BA0E-0486A4E4B84E}"/>
              </a:ext>
            </a:extLst>
          </p:cNvPr>
          <p:cNvSpPr>
            <a:spLocks xmlns:a="http://schemas.openxmlformats.org/drawingml/2006/main" noGrp="1"/>
          </p:cNvSpPr>
          <p:nvPr/>
        </p:nvSpPr>
        <p:spPr>
          <a:xfrm xmlns:a="http://schemas.openxmlformats.org/drawingml/2006/main">
            <a:off x="8353425" y="2257425"/>
            <a:ext cx="31051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205942"/>
                </a:solidFill>
                <a:latin typeface="DejaVu Sans"/>
                <a:ea typeface="DejaVu Sans"/>
                <a:cs typeface="DejaVu Sans"/>
              </a:defRPr>
            </a:pPr>
            <a:r>
              <a:rPr sz="2175" b="1">
                <a:solidFill>
                  <a:srgbClr val="205942"/>
                </a:solidFill>
                <a:latin typeface="DejaVu Sans"/>
                <a:ea typeface="DejaVu Sans"/>
                <a:cs typeface="DejaVu Sans"/>
              </a:rPr>
              <a:t>Tu selección</a:t>
            </a:r>
          </a:p>
        </p:txBody>
      </p:sp>
      <p:sp>
        <p:nvSpPr>
          <p:cNvPr id="6" name="Cambiar cantidades&#10;y quitar productos.">
            <a:extLst xmlns:a="http://schemas.openxmlformats.org/drawingml/2006/main">
              <a:ext uri="{FF2B5EF4-FFF2-40B4-BE49-F238E27FC236}">
                <a16:creationId xmlns:a16="http://schemas.microsoft.com/office/drawing/2014/main" id="{13D425ED-08D4-4363-9BFB-0C579523D33F}"/>
              </a:ext>
            </a:extLst>
          </p:cNvPr>
          <p:cNvSpPr>
            <a:spLocks xmlns:a="http://schemas.openxmlformats.org/drawingml/2006/main" noGrp="1"/>
          </p:cNvSpPr>
          <p:nvPr/>
        </p:nvSpPr>
        <p:spPr>
          <a:xfrm xmlns:a="http://schemas.openxmlformats.org/drawingml/2006/main">
            <a:off x="8353425" y="2828925"/>
            <a:ext cx="31051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23312C"/>
                </a:solidFill>
                <a:latin typeface="DejaVu Sans"/>
                <a:ea typeface="DejaVu Sans"/>
                <a:cs typeface="DejaVu Sans"/>
              </a:defRPr>
            </a:pPr>
            <a:r>
              <a:rPr sz="2025" b="0">
                <a:solidFill>
                  <a:srgbClr val="23312C"/>
                </a:solidFill>
                <a:latin typeface="DejaVu Sans"/>
                <a:ea typeface="DejaVu Sans"/>
                <a:cs typeface="DejaVu Sans"/>
              </a:rPr>
              <a:t>Cambiar cantidades</a:t>
            </a:r>
          </a:p>
          <a:p xmlns:a="http://schemas.openxmlformats.org/drawingml/2006/main">
            <a:pPr>
              <a:defRPr sz="2025" b="0">
                <a:solidFill>
                  <a:srgbClr val="23312C"/>
                </a:solidFill>
                <a:latin typeface="DejaVu Sans"/>
                <a:ea typeface="DejaVu Sans"/>
                <a:cs typeface="DejaVu Sans"/>
              </a:defRPr>
            </a:pPr>
            <a:r>
              <a:rPr sz="2025" b="0">
                <a:solidFill>
                  <a:srgbClr val="23312C"/>
                </a:solidFill>
                <a:latin typeface="DejaVu Sans"/>
                <a:ea typeface="DejaVu Sans"/>
                <a:cs typeface="DejaVu Sans"/>
              </a:rPr>
              <a:t>y quitar productos.</a:t>
            </a:r>
          </a:p>
        </p:txBody>
      </p:sp>
      <p:sp>
        <p:nvSpPr>
          <p:cNvPr id="7" name="Carrito persistente">
            <a:extLst xmlns:a="http://schemas.openxmlformats.org/drawingml/2006/main">
              <a:ext uri="{FF2B5EF4-FFF2-40B4-BE49-F238E27FC236}">
                <a16:creationId xmlns:a16="http://schemas.microsoft.com/office/drawing/2014/main" id="{AA89F044-2D8B-431E-B7B9-59E2F818B5D6}"/>
              </a:ext>
            </a:extLst>
          </p:cNvPr>
          <p:cNvSpPr>
            <a:spLocks xmlns:a="http://schemas.openxmlformats.org/drawingml/2006/main" noGrp="1"/>
          </p:cNvSpPr>
          <p:nvPr/>
        </p:nvSpPr>
        <p:spPr>
          <a:xfrm xmlns:a="http://schemas.openxmlformats.org/drawingml/2006/main">
            <a:off x="8353425" y="4191000"/>
            <a:ext cx="31051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205942"/>
                </a:solidFill>
                <a:latin typeface="DejaVu Sans"/>
                <a:ea typeface="DejaVu Sans"/>
                <a:cs typeface="DejaVu Sans"/>
              </a:defRPr>
            </a:pPr>
            <a:r>
              <a:rPr sz="2175" b="1">
                <a:solidFill>
                  <a:srgbClr val="205942"/>
                </a:solidFill>
                <a:latin typeface="DejaVu Sans"/>
                <a:ea typeface="DejaVu Sans"/>
                <a:cs typeface="DejaVu Sans"/>
              </a:rPr>
              <a:t>Carrito persistente</a:t>
            </a:r>
          </a:p>
        </p:txBody>
      </p:sp>
      <p:sp>
        <p:nvSpPr>
          <p:cNvPr id="8" name="Conserva la selección&#10;al recargar el navegado">
            <a:extLst xmlns:a="http://schemas.openxmlformats.org/drawingml/2006/main">
              <a:ext uri="{FF2B5EF4-FFF2-40B4-BE49-F238E27FC236}">
                <a16:creationId xmlns:a16="http://schemas.microsoft.com/office/drawing/2014/main" id="{C2A5A181-B53F-4A8E-995D-FEE399B8FB43}"/>
              </a:ext>
            </a:extLst>
          </p:cNvPr>
          <p:cNvSpPr>
            <a:spLocks xmlns:a="http://schemas.openxmlformats.org/drawingml/2006/main" noGrp="1"/>
          </p:cNvSpPr>
          <p:nvPr/>
        </p:nvSpPr>
        <p:spPr>
          <a:xfrm xmlns:a="http://schemas.openxmlformats.org/drawingml/2006/main">
            <a:off x="8353425" y="4762500"/>
            <a:ext cx="31051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23312C"/>
                </a:solidFill>
                <a:latin typeface="DejaVu Sans"/>
                <a:ea typeface="DejaVu Sans"/>
                <a:cs typeface="DejaVu Sans"/>
              </a:defRPr>
            </a:pPr>
            <a:r>
              <a:rPr sz="2025" b="0">
                <a:solidFill>
                  <a:srgbClr val="23312C"/>
                </a:solidFill>
                <a:latin typeface="DejaVu Sans"/>
                <a:ea typeface="DejaVu Sans"/>
                <a:cs typeface="DejaVu Sans"/>
              </a:rPr>
              <a:t>Conserva la selección</a:t>
            </a:r>
          </a:p>
          <a:p xmlns:a="http://schemas.openxmlformats.org/drawingml/2006/main">
            <a:pPr>
              <a:defRPr sz="2025" b="0">
                <a:solidFill>
                  <a:srgbClr val="23312C"/>
                </a:solidFill>
                <a:latin typeface="DejaVu Sans"/>
                <a:ea typeface="DejaVu Sans"/>
                <a:cs typeface="DejaVu Sans"/>
              </a:defRPr>
            </a:pPr>
            <a:r>
              <a:rPr sz="2025" b="0">
                <a:solidFill>
                  <a:srgbClr val="23312C"/>
                </a:solidFill>
                <a:latin typeface="DejaVu Sans"/>
                <a:ea typeface="DejaVu Sans"/>
                <a:cs typeface="DejaVu Sans"/>
              </a:rPr>
              <a:t>al recargar el navegador.</a:t>
            </a:r>
          </a:p>
        </p:txBody>
      </p:sp>
      <p:sp>
        <p:nvSpPr>
          <p:cNvPr id="9" name="El pago es una simulación. Esta versión no pr">
            <a:extLst xmlns:a="http://schemas.openxmlformats.org/drawingml/2006/main">
              <a:ext uri="{FF2B5EF4-FFF2-40B4-BE49-F238E27FC236}">
                <a16:creationId xmlns:a16="http://schemas.microsoft.com/office/drawing/2014/main" id="{87A33F32-D1B8-4A81-B26F-E4B32751C64F}"/>
              </a:ext>
            </a:extLst>
          </p:cNvPr>
          <p:cNvSpPr>
            <a:spLocks xmlns:a="http://schemas.openxmlformats.org/drawingml/2006/main" noGrp="1"/>
          </p:cNvSpPr>
          <p:nvPr/>
        </p:nvSpPr>
        <p:spPr>
          <a:xfrm xmlns:a="http://schemas.openxmlformats.org/drawingml/2006/main">
            <a:off x="685800" y="5895975"/>
            <a:ext cx="10382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75" b="0">
                <a:solidFill>
                  <a:srgbClr val="5A6B64"/>
                </a:solidFill>
                <a:latin typeface="DejaVu Sans"/>
                <a:ea typeface="DejaVu Sans"/>
                <a:cs typeface="DejaVu Sans"/>
              </a:defRPr>
            </a:pPr>
            <a:r>
              <a:rPr sz="1575" b="0">
                <a:solidFill>
                  <a:srgbClr val="5A6B64"/>
                </a:solidFill>
                <a:latin typeface="DejaVu Sans"/>
                <a:ea typeface="DejaVu Sans"/>
                <a:cs typeface="DejaVu Sans"/>
              </a:rPr>
              <a:t>El pago es una simulación. Esta versión no procesa cobros reales.</a:t>
            </a:r>
          </a:p>
        </p:txBody>
      </p:sp>
    </p:spTree>
    <p:extLst>
      <p:ext uri="{BB962C8B-B14F-4D97-AF65-F5344CB8AC3E}">
        <p14:creationId xmlns:p14="http://schemas.microsoft.com/office/powerpoint/2010/main" val="1258465467"/>
      </p:ext>
    </p:extLst>
  </p:cSld>
</p:sld>
</file>

<file path=ppt/slides/slide6.xml><?xml version="1.0" encoding="utf-8"?>
<p:sld xmlns:p="http://schemas.openxmlformats.org/presentationml/2006/main">
  <p:cSld>
    <p:bg>
      <p:bgPr>
        <a:solidFill xmlns:a="http://schemas.openxmlformats.org/drawingml/2006/main">
          <a:srgbClr val="F7F9F8"/>
        </a:solidFill>
      </p:bgPr>
    </p:bg>
    <p:spTree>
      <p:nvGrpSpPr>
        <p:cNvPr id="1" name=""/>
        <p:cNvGrpSpPr/>
        <p:nvPr/>
      </p:nvGrpSpPr>
      <p:grpSpPr>
        <a:xfrm xmlns:a="http://schemas.openxmlformats.org/drawingml/2006/main"/>
      </p:grpSpPr>
      <p:sp>
        <p:nvSpPr>
          <p:cNvPr id="10" name="Formularios que guían al usuario">
            <a:extLst xmlns:a="http://schemas.openxmlformats.org/drawingml/2006/main">
              <a:ext uri="{FF2B5EF4-FFF2-40B4-BE49-F238E27FC236}">
                <a16:creationId xmlns:a16="http://schemas.microsoft.com/office/drawing/2014/main" id="{7F408E89-25BD-4703-8F5B-F4441CA95221}"/>
              </a:ext>
            </a:extLst>
          </p:cNvPr>
          <p:cNvSpPr>
            <a:spLocks xmlns:a="http://schemas.openxmlformats.org/drawingml/2006/main" noGrp="1"/>
          </p:cNvSpPr>
          <p:nvPr/>
        </p:nvSpPr>
        <p:spPr>
          <a:xfrm xmlns:a="http://schemas.openxmlformats.org/drawingml/2006/main">
            <a:off x="647700" y="457200"/>
            <a:ext cx="108966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205942"/>
                </a:solidFill>
                <a:latin typeface="DejaVu Sans"/>
                <a:ea typeface="DejaVu Sans"/>
                <a:cs typeface="DejaVu Sans"/>
              </a:defRPr>
            </a:pPr>
            <a:r>
              <a:rPr sz="3300" b="1">
                <a:solidFill>
                  <a:srgbClr val="205942"/>
                </a:solidFill>
                <a:latin typeface="DejaVu Sans"/>
                <a:ea typeface="DejaVu Sans"/>
                <a:cs typeface="DejaVu Sans"/>
              </a:rPr>
              <a:t>Formularios que guían al usuario</a:t>
            </a:r>
          </a:p>
        </p:txBody>
      </p:sp>
      <p:sp>
        <p:nvSpPr>
          <p:cNvPr id="2" name="06">
            <a:extLst xmlns:a="http://schemas.openxmlformats.org/drawingml/2006/main">
              <a:ext uri="{FF2B5EF4-FFF2-40B4-BE49-F238E27FC236}">
                <a16:creationId xmlns:a16="http://schemas.microsoft.com/office/drawing/2014/main" id="{1C74B27A-170C-4C34-B495-30A0D0240311}"/>
              </a:ext>
            </a:extLst>
          </p:cNvPr>
          <p:cNvSpPr>
            <a:spLocks xmlns:a="http://schemas.openxmlformats.org/drawingml/2006/main" noGrp="1"/>
          </p:cNvSpPr>
          <p:nvPr/>
        </p:nvSpPr>
        <p:spPr>
          <a:xfrm xmlns:a="http://schemas.openxmlformats.org/drawingml/2006/main">
            <a:off x="11144250" y="6400800"/>
            <a:ext cx="419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A6B64"/>
                </a:solidFill>
                <a:latin typeface="DejaVu Sans"/>
                <a:ea typeface="DejaVu Sans"/>
                <a:cs typeface="DejaVu Sans"/>
              </a:defRPr>
            </a:pPr>
            <a:r>
              <a:rPr sz="1275" b="0">
                <a:solidFill>
                  <a:srgbClr val="5A6B64"/>
                </a:solidFill>
                <a:latin typeface="DejaVu Sans"/>
                <a:ea typeface="DejaVu Sans"/>
                <a:cs typeface="DejaVu Sans"/>
              </a:rPr>
              <a:t>06</a:t>
            </a:r>
          </a:p>
        </p:txBody>
      </p:sp>
      <p:sp>
        <p:nvSpPr>
          <p:cNvPr id="3" name="Registro">
            <a:extLst xmlns:a="http://schemas.openxmlformats.org/drawingml/2006/main">
              <a:ext uri="{FF2B5EF4-FFF2-40B4-BE49-F238E27FC236}">
                <a16:creationId xmlns:a16="http://schemas.microsoft.com/office/drawing/2014/main" id="{5893EA90-9DEC-4382-9730-7DF72C3CEBE7}"/>
              </a:ext>
            </a:extLst>
          </p:cNvPr>
          <p:cNvSpPr>
            <a:spLocks xmlns:a="http://schemas.openxmlformats.org/drawingml/2006/main" noGrp="1"/>
          </p:cNvSpPr>
          <p:nvPr/>
        </p:nvSpPr>
        <p:spPr>
          <a:xfrm xmlns:a="http://schemas.openxmlformats.org/drawingml/2006/main">
            <a:off x="685800" y="1762125"/>
            <a:ext cx="5238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205942"/>
                </a:solidFill>
                <a:latin typeface="DejaVu Sans"/>
                <a:ea typeface="DejaVu Sans"/>
                <a:cs typeface="DejaVu Sans"/>
              </a:defRPr>
            </a:pPr>
            <a:r>
              <a:rPr sz="2175" b="1">
                <a:solidFill>
                  <a:srgbClr val="205942"/>
                </a:solidFill>
                <a:latin typeface="DejaVu Sans"/>
                <a:ea typeface="DejaVu Sans"/>
                <a:cs typeface="DejaVu Sans"/>
              </a:rPr>
              <a:t>Registro</a:t>
            </a:r>
          </a:p>
        </p:txBody>
      </p:sp>
      <p:sp>
        <p:nvSpPr>
          <p:cNvPr id="4" name="Campos de identificación y contacto.&#10;Confirma">
            <a:extLst xmlns:a="http://schemas.openxmlformats.org/drawingml/2006/main">
              <a:ext uri="{FF2B5EF4-FFF2-40B4-BE49-F238E27FC236}">
                <a16:creationId xmlns:a16="http://schemas.microsoft.com/office/drawing/2014/main" id="{79E8524F-CF99-4932-9CEE-41AA85FAD602}"/>
              </a:ext>
            </a:extLst>
          </p:cNvPr>
          <p:cNvSpPr>
            <a:spLocks xmlns:a="http://schemas.openxmlformats.org/drawingml/2006/main" noGrp="1"/>
          </p:cNvSpPr>
          <p:nvPr/>
        </p:nvSpPr>
        <p:spPr>
          <a:xfrm xmlns:a="http://schemas.openxmlformats.org/drawingml/2006/main">
            <a:off x="685800" y="2333625"/>
            <a:ext cx="52387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23312C"/>
                </a:solidFill>
                <a:latin typeface="DejaVu Sans"/>
                <a:ea typeface="DejaVu Sans"/>
                <a:cs typeface="DejaVu Sans"/>
              </a:defRPr>
            </a:pPr>
            <a:r>
              <a:rPr sz="2025" b="0">
                <a:solidFill>
                  <a:srgbClr val="23312C"/>
                </a:solidFill>
                <a:latin typeface="DejaVu Sans"/>
                <a:ea typeface="DejaVu Sans"/>
                <a:cs typeface="DejaVu Sans"/>
              </a:rPr>
              <a:t>Campos de identificación y contacto.</a:t>
            </a:r>
          </a:p>
          <a:p xmlns:a="http://schemas.openxmlformats.org/drawingml/2006/main">
            <a:pPr>
              <a:defRPr sz="2025" b="0">
                <a:solidFill>
                  <a:srgbClr val="23312C"/>
                </a:solidFill>
                <a:latin typeface="DejaVu Sans"/>
                <a:ea typeface="DejaVu Sans"/>
                <a:cs typeface="DejaVu Sans"/>
              </a:defRPr>
            </a:pPr>
            <a:r>
              <a:rPr sz="2025" b="0">
                <a:solidFill>
                  <a:srgbClr val="23312C"/>
                </a:solidFill>
                <a:latin typeface="DejaVu Sans"/>
                <a:ea typeface="DejaVu Sans"/>
                <a:cs typeface="DejaVu Sans"/>
              </a:rPr>
              <a:t>Confirmación de contraseña.</a:t>
            </a:r>
          </a:p>
          <a:p xmlns:a="http://schemas.openxmlformats.org/drawingml/2006/main">
            <a:pPr>
              <a:defRPr sz="2025" b="0">
                <a:solidFill>
                  <a:srgbClr val="23312C"/>
                </a:solidFill>
                <a:latin typeface="DejaVu Sans"/>
                <a:ea typeface="DejaVu Sans"/>
                <a:cs typeface="DejaVu Sans"/>
              </a:defRPr>
            </a:pPr>
            <a:r>
              <a:rPr sz="2025" b="0">
                <a:solidFill>
                  <a:srgbClr val="23312C"/>
                </a:solidFill>
                <a:latin typeface="DejaVu Sans"/>
                <a:ea typeface="DejaVu Sans"/>
                <a:cs typeface="DejaVu Sans"/>
              </a:rPr>
              <a:t>Comunas según la región elegida.</a:t>
            </a:r>
          </a:p>
        </p:txBody>
      </p:sp>
      <p:sp>
        <p:nvSpPr>
          <p:cNvPr id="5" name="Contacto">
            <a:extLst xmlns:a="http://schemas.openxmlformats.org/drawingml/2006/main">
              <a:ext uri="{FF2B5EF4-FFF2-40B4-BE49-F238E27FC236}">
                <a16:creationId xmlns:a16="http://schemas.microsoft.com/office/drawing/2014/main" id="{3C83FC3D-56C8-4ACB-9F12-B77791FD815E}"/>
              </a:ext>
            </a:extLst>
          </p:cNvPr>
          <p:cNvSpPr>
            <a:spLocks xmlns:a="http://schemas.openxmlformats.org/drawingml/2006/main" noGrp="1"/>
          </p:cNvSpPr>
          <p:nvPr/>
        </p:nvSpPr>
        <p:spPr>
          <a:xfrm xmlns:a="http://schemas.openxmlformats.org/drawingml/2006/main">
            <a:off x="6524625" y="1762125"/>
            <a:ext cx="4953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205942"/>
                </a:solidFill>
                <a:latin typeface="DejaVu Sans"/>
                <a:ea typeface="DejaVu Sans"/>
                <a:cs typeface="DejaVu Sans"/>
              </a:defRPr>
            </a:pPr>
            <a:r>
              <a:rPr sz="2175" b="1">
                <a:solidFill>
                  <a:srgbClr val="205942"/>
                </a:solidFill>
                <a:latin typeface="DejaVu Sans"/>
                <a:ea typeface="DejaVu Sans"/>
                <a:cs typeface="DejaVu Sans"/>
              </a:rPr>
              <a:t>Contacto</a:t>
            </a:r>
          </a:p>
        </p:txBody>
      </p:sp>
      <p:sp>
        <p:nvSpPr>
          <p:cNvPr id="6" name="Nombre, correo y comentario.&#10;Mensajes de erro">
            <a:extLst xmlns:a="http://schemas.openxmlformats.org/drawingml/2006/main">
              <a:ext uri="{FF2B5EF4-FFF2-40B4-BE49-F238E27FC236}">
                <a16:creationId xmlns:a16="http://schemas.microsoft.com/office/drawing/2014/main" id="{ADCDF241-3B93-4961-B375-446272B34FF1}"/>
              </a:ext>
            </a:extLst>
          </p:cNvPr>
          <p:cNvSpPr>
            <a:spLocks xmlns:a="http://schemas.openxmlformats.org/drawingml/2006/main" noGrp="1"/>
          </p:cNvSpPr>
          <p:nvPr/>
        </p:nvSpPr>
        <p:spPr>
          <a:xfrm xmlns:a="http://schemas.openxmlformats.org/drawingml/2006/main">
            <a:off x="6524625" y="2333625"/>
            <a:ext cx="49530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23312C"/>
                </a:solidFill>
                <a:latin typeface="DejaVu Sans"/>
                <a:ea typeface="DejaVu Sans"/>
                <a:cs typeface="DejaVu Sans"/>
              </a:defRPr>
            </a:pPr>
            <a:r>
              <a:rPr sz="2025" b="0">
                <a:solidFill>
                  <a:srgbClr val="23312C"/>
                </a:solidFill>
                <a:latin typeface="DejaVu Sans"/>
                <a:ea typeface="DejaVu Sans"/>
                <a:cs typeface="DejaVu Sans"/>
              </a:rPr>
              <a:t>Nombre, correo y comentario.</a:t>
            </a:r>
          </a:p>
          <a:p xmlns:a="http://schemas.openxmlformats.org/drawingml/2006/main">
            <a:pPr>
              <a:defRPr sz="2025" b="0">
                <a:solidFill>
                  <a:srgbClr val="23312C"/>
                </a:solidFill>
                <a:latin typeface="DejaVu Sans"/>
                <a:ea typeface="DejaVu Sans"/>
                <a:cs typeface="DejaVu Sans"/>
              </a:defRPr>
            </a:pPr>
            <a:r>
              <a:rPr sz="2025" b="0">
                <a:solidFill>
                  <a:srgbClr val="23312C"/>
                </a:solidFill>
                <a:latin typeface="DejaVu Sans"/>
                <a:ea typeface="DejaVu Sans"/>
                <a:cs typeface="DejaVu Sans"/>
              </a:rPr>
              <a:t>Mensajes de error junto al campo</a:t>
            </a:r>
          </a:p>
          <a:p xmlns:a="http://schemas.openxmlformats.org/drawingml/2006/main">
            <a:pPr>
              <a:defRPr sz="2025" b="0">
                <a:solidFill>
                  <a:srgbClr val="23312C"/>
                </a:solidFill>
                <a:latin typeface="DejaVu Sans"/>
                <a:ea typeface="DejaVu Sans"/>
                <a:cs typeface="DejaVu Sans"/>
              </a:defRPr>
            </a:pPr>
            <a:r>
              <a:rPr sz="2025" b="0">
                <a:solidFill>
                  <a:srgbClr val="23312C"/>
                </a:solidFill>
                <a:latin typeface="DejaVu Sans"/>
                <a:ea typeface="DejaVu Sans"/>
                <a:cs typeface="DejaVu Sans"/>
              </a:rPr>
              <a:t>y límites de extensión.</a:t>
            </a:r>
          </a:p>
        </p:txBody>
      </p:sp>
      <p:sp>
        <p:nvSpPr>
          <p:cNvPr id="7" name="Ejemplo de validación">
            <a:extLst xmlns:a="http://schemas.openxmlformats.org/drawingml/2006/main">
              <a:ext uri="{FF2B5EF4-FFF2-40B4-BE49-F238E27FC236}">
                <a16:creationId xmlns:a16="http://schemas.microsoft.com/office/drawing/2014/main" id="{BEA4C6E7-0214-4EAD-B884-F34BAB863636}"/>
              </a:ext>
            </a:extLst>
          </p:cNvPr>
          <p:cNvSpPr>
            <a:spLocks xmlns:a="http://schemas.openxmlformats.org/drawingml/2006/main" noGrp="1"/>
          </p:cNvSpPr>
          <p:nvPr/>
        </p:nvSpPr>
        <p:spPr>
          <a:xfrm xmlns:a="http://schemas.openxmlformats.org/drawingml/2006/main">
            <a:off x="685800" y="4171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205942"/>
                </a:solidFill>
                <a:latin typeface="DejaVu Sans"/>
                <a:ea typeface="DejaVu Sans"/>
                <a:cs typeface="DejaVu Sans"/>
              </a:defRPr>
            </a:pPr>
            <a:r>
              <a:rPr sz="2175" b="1">
                <a:solidFill>
                  <a:srgbClr val="205942"/>
                </a:solidFill>
                <a:latin typeface="DejaVu Sans"/>
                <a:ea typeface="DejaVu Sans"/>
                <a:cs typeface="DejaVu Sans"/>
              </a:rPr>
              <a:t>Ejemplo de validación</a:t>
            </a:r>
          </a:p>
        </p:txBody>
      </p:sp>
      <p:sp>
        <p:nvSpPr>
          <p:cNvPr id="8" name="Si las contraseñas no coinciden, el formulari">
            <a:extLst xmlns:a="http://schemas.openxmlformats.org/drawingml/2006/main">
              <a:ext uri="{FF2B5EF4-FFF2-40B4-BE49-F238E27FC236}">
                <a16:creationId xmlns:a16="http://schemas.microsoft.com/office/drawing/2014/main" id="{F4A47907-0304-4E7A-BB40-0B9D7DADE281}"/>
              </a:ext>
            </a:extLst>
          </p:cNvPr>
          <p:cNvSpPr>
            <a:spLocks xmlns:a="http://schemas.openxmlformats.org/drawingml/2006/main" noGrp="1"/>
          </p:cNvSpPr>
          <p:nvPr/>
        </p:nvSpPr>
        <p:spPr>
          <a:xfrm xmlns:a="http://schemas.openxmlformats.org/drawingml/2006/main">
            <a:off x="685800" y="4781550"/>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23312C"/>
                </a:solidFill>
                <a:latin typeface="DejaVu Sans"/>
                <a:ea typeface="DejaVu Sans"/>
                <a:cs typeface="DejaVu Sans"/>
              </a:defRPr>
            </a:pPr>
            <a:r>
              <a:rPr sz="2325" b="0">
                <a:solidFill>
                  <a:srgbClr val="23312C"/>
                </a:solidFill>
                <a:latin typeface="DejaVu Sans"/>
                <a:ea typeface="DejaVu Sans"/>
                <a:cs typeface="DejaVu Sans"/>
              </a:rPr>
              <a:t>Si las contraseñas no coinciden, el formulario pide corregirlas antes de continuar.</a:t>
            </a:r>
          </a:p>
        </p:txBody>
      </p:sp>
      <p:sp>
        <p:nvSpPr>
          <p:cNvPr id="9" name="Registro e inicio de sesión validan formulari">
            <a:extLst xmlns:a="http://schemas.openxmlformats.org/drawingml/2006/main">
              <a:ext uri="{FF2B5EF4-FFF2-40B4-BE49-F238E27FC236}">
                <a16:creationId xmlns:a16="http://schemas.microsoft.com/office/drawing/2014/main" id="{54D7D817-487C-448C-9D66-80C633369701}"/>
              </a:ext>
            </a:extLst>
          </p:cNvPr>
          <p:cNvSpPr>
            <a:spLocks xmlns:a="http://schemas.openxmlformats.org/drawingml/2006/main" noGrp="1"/>
          </p:cNvSpPr>
          <p:nvPr/>
        </p:nvSpPr>
        <p:spPr>
          <a:xfrm xmlns:a="http://schemas.openxmlformats.org/drawingml/2006/main">
            <a:off x="685800" y="5991225"/>
            <a:ext cx="1047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5A6B64"/>
                </a:solidFill>
                <a:latin typeface="DejaVu Sans"/>
                <a:ea typeface="DejaVu Sans"/>
                <a:cs typeface="DejaVu Sans"/>
              </a:defRPr>
            </a:pPr>
            <a:r>
              <a:rPr sz="1500" b="0">
                <a:solidFill>
                  <a:srgbClr val="5A6B64"/>
                </a:solidFill>
                <a:latin typeface="DejaVu Sans"/>
                <a:ea typeface="DejaVu Sans"/>
                <a:cs typeface="DejaVu Sans"/>
              </a:rPr>
              <a:t>Registro e inicio de sesión validan formularios. La autenticación y el envío real están pendientes.</a:t>
            </a:r>
          </a:p>
        </p:txBody>
      </p:sp>
    </p:spTree>
    <p:extLst>
      <p:ext uri="{BB962C8B-B14F-4D97-AF65-F5344CB8AC3E}">
        <p14:creationId xmlns:p14="http://schemas.microsoft.com/office/powerpoint/2010/main" val="404026127"/>
      </p:ext>
    </p:extLst>
  </p:cSld>
</p:sld>
</file>

<file path=ppt/slides/slide7.xml><?xml version="1.0" encoding="utf-8"?>
<p:sld xmlns:p="http://schemas.openxmlformats.org/presentationml/2006/main">
  <p:cSld>
    <p:bg>
      <p:bgPr>
        <a:solidFill xmlns:a="http://schemas.openxmlformats.org/drawingml/2006/main">
          <a:srgbClr val="F7F9F8"/>
        </a:solidFill>
      </p:bgPr>
    </p:bg>
    <p:spTree>
      <p:nvGrpSpPr>
        <p:cNvPr id="1" name=""/>
        <p:cNvGrpSpPr/>
        <p:nvPr/>
      </p:nvGrpSpPr>
      <p:grpSpPr>
        <a:xfrm xmlns:a="http://schemas.openxmlformats.org/drawingml/2006/main"/>
      </p:grpSpPr>
      <p:sp>
        <p:nvSpPr>
          <p:cNvPr id="6" name="Administración de productos y usuarios">
            <a:extLst xmlns:a="http://schemas.openxmlformats.org/drawingml/2006/main">
              <a:ext uri="{FF2B5EF4-FFF2-40B4-BE49-F238E27FC236}">
                <a16:creationId xmlns:a16="http://schemas.microsoft.com/office/drawing/2014/main" id="{FFB52908-2272-4147-8676-9F11FA56C125}"/>
              </a:ext>
            </a:extLst>
          </p:cNvPr>
          <p:cNvSpPr>
            <a:spLocks xmlns:a="http://schemas.openxmlformats.org/drawingml/2006/main" noGrp="1"/>
          </p:cNvSpPr>
          <p:nvPr/>
        </p:nvSpPr>
        <p:spPr>
          <a:xfrm xmlns:a="http://schemas.openxmlformats.org/drawingml/2006/main">
            <a:off x="647700" y="457200"/>
            <a:ext cx="108966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205942"/>
                </a:solidFill>
                <a:latin typeface="DejaVu Sans"/>
                <a:ea typeface="DejaVu Sans"/>
                <a:cs typeface="DejaVu Sans"/>
              </a:defRPr>
            </a:pPr>
            <a:r>
              <a:rPr sz="3300" b="1">
                <a:solidFill>
                  <a:srgbClr val="205942"/>
                </a:solidFill>
                <a:latin typeface="DejaVu Sans"/>
                <a:ea typeface="DejaVu Sans"/>
                <a:cs typeface="DejaVu Sans"/>
              </a:rPr>
              <a:t>Administración de productos y usuarios</a:t>
            </a:r>
          </a:p>
        </p:txBody>
      </p:sp>
      <p:sp>
        <p:nvSpPr>
          <p:cNvPr id="2" name="07">
            <a:extLst xmlns:a="http://schemas.openxmlformats.org/drawingml/2006/main">
              <a:ext uri="{FF2B5EF4-FFF2-40B4-BE49-F238E27FC236}">
                <a16:creationId xmlns:a16="http://schemas.microsoft.com/office/drawing/2014/main" id="{AF5C5534-AFDF-4AE2-BFE4-9F53DEC9F38D}"/>
              </a:ext>
            </a:extLst>
          </p:cNvPr>
          <p:cNvSpPr>
            <a:spLocks xmlns:a="http://schemas.openxmlformats.org/drawingml/2006/main" noGrp="1"/>
          </p:cNvSpPr>
          <p:nvPr/>
        </p:nvSpPr>
        <p:spPr>
          <a:xfrm xmlns:a="http://schemas.openxmlformats.org/drawingml/2006/main">
            <a:off x="11144250" y="6400800"/>
            <a:ext cx="419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A6B64"/>
                </a:solidFill>
                <a:latin typeface="DejaVu Sans"/>
                <a:ea typeface="DejaVu Sans"/>
                <a:cs typeface="DejaVu Sans"/>
              </a:defRPr>
            </a:pPr>
            <a:r>
              <a:rPr sz="1275" b="0">
                <a:solidFill>
                  <a:srgbClr val="5A6B64"/>
                </a:solidFill>
                <a:latin typeface="DejaVu Sans"/>
                <a:ea typeface="DejaVu Sans"/>
                <a:cs typeface="DejaVu Sans"/>
              </a:rPr>
              <a:t>07</a:t>
            </a:r>
          </a:p>
        </p:txBody>
      </p:sp>
      <p:graphicFrame>
        <p:nvGraphicFramePr>
          <p:cNvPr id="8" name=""/>
          <p:cNvGraphicFramePr/>
          <p:nvPr/>
        </p:nvGraphicFramePr>
        <p:xfrm>
          <a:off xmlns:a="http://schemas.openxmlformats.org/drawingml/2006/main" x="685800" y="1866900"/>
          <a:ext xmlns:a="http://schemas.openxmlformats.org/drawingml/2006/main" cx="10820400" cy="3429000"/>
        </p:xfrm>
        <a:graphic xmlns:a="http://schemas.openxmlformats.org/drawingml/2006/main">
          <a:graphicData uri="http://schemas.openxmlformats.org/drawingml/2006/table">
            <a:tbl>
              <a:tblPr/>
              <a:tblGrid>
                <a:gridCol w="2571750"/>
                <a:gridCol w="8248650"/>
              </a:tblGrid>
              <a:tr h="685800">
                <a:tc>
                  <a:txBody>
                    <a:bodyPr/>
                    <a:lstStyle/>
                    <a:p>
                      <a:r>
                        <a:rPr sz="2025" b="1">
                          <a:solidFill>
                            <a:srgbClr val="FFFFFF"/>
                          </a:solidFill>
                          <a:latin typeface="DejaVu Sans"/>
                          <a:ea typeface="DejaVu Sans"/>
                          <a:cs typeface="DejaVu Sans"/>
                        </a:rPr>
                        <a:t>Área</a:t>
                      </a:r>
                    </a:p>
                  </a:txBody>
                  <a:tcPr marL="133350" marR="133350" marT="114300" marB="95250" anchor="ctr">
                    <a:solidFill>
                      <a:srgbClr val="205942"/>
                    </a:solidFill>
                  </a:tcPr>
                </a:tc>
                <a:tc>
                  <a:txBody>
                    <a:bodyPr/>
                    <a:lstStyle/>
                    <a:p>
                      <a:r>
                        <a:rPr sz="2025" b="1">
                          <a:solidFill>
                            <a:srgbClr val="FFFFFF"/>
                          </a:solidFill>
                          <a:latin typeface="DejaVu Sans"/>
                          <a:ea typeface="DejaVu Sans"/>
                          <a:cs typeface="DejaVu Sans"/>
                        </a:rPr>
                        <a:t>Funciones del prototipo</a:t>
                      </a:r>
                    </a:p>
                  </a:txBody>
                  <a:tcPr marL="133350" marR="133350" marT="114300" marB="95250" anchor="ctr">
                    <a:solidFill>
                      <a:srgbClr val="205942"/>
                    </a:solidFill>
                  </a:tcPr>
                </a:tc>
              </a:tr>
              <a:tr h="685800">
                <a:tc>
                  <a:txBody>
                    <a:bodyPr/>
                    <a:lstStyle/>
                    <a:p>
                      <a:r>
                        <a:rPr sz="2025">
                          <a:solidFill>
                            <a:srgbClr val="23312C"/>
                          </a:solidFill>
                          <a:latin typeface="DejaVu Sans"/>
                          <a:ea typeface="DejaVu Sans"/>
                          <a:cs typeface="DejaVu Sans"/>
                        </a:rPr>
                        <a:t>Productos</a:t>
                      </a:r>
                    </a:p>
                  </a:txBody>
                  <a:tcPr marL="133350" marR="133350" marT="114300" marB="95250" anchor="ctr">
                    <a:solidFill>
                      <a:srgbClr val="FFFFFF"/>
                    </a:solidFill>
                  </a:tcPr>
                </a:tc>
                <a:tc>
                  <a:txBody>
                    <a:bodyPr/>
                    <a:lstStyle/>
                    <a:p>
                      <a:r>
                        <a:rPr sz="2025">
                          <a:solidFill>
                            <a:srgbClr val="23312C"/>
                          </a:solidFill>
                          <a:latin typeface="DejaVu Sans"/>
                          <a:ea typeface="DejaVu Sans"/>
                          <a:cs typeface="DejaVu Sans"/>
                        </a:rPr>
                        <a:t>Crear, editar, eliminar y buscar</a:t>
                      </a:r>
                    </a:p>
                  </a:txBody>
                  <a:tcPr marL="133350" marR="133350" marT="114300" marB="95250" anchor="ctr">
                    <a:solidFill>
                      <a:srgbClr val="FFFFFF"/>
                    </a:solidFill>
                  </a:tcPr>
                </a:tc>
              </a:tr>
              <a:tr h="685800">
                <a:tc>
                  <a:txBody>
                    <a:bodyPr/>
                    <a:lstStyle/>
                    <a:p>
                      <a:r>
                        <a:rPr sz="2025">
                          <a:solidFill>
                            <a:srgbClr val="23312C"/>
                          </a:solidFill>
                          <a:latin typeface="DejaVu Sans"/>
                          <a:ea typeface="DejaVu Sans"/>
                          <a:cs typeface="DejaVu Sans"/>
                        </a:rPr>
                        <a:t>Usuarios</a:t>
                      </a:r>
                    </a:p>
                  </a:txBody>
                  <a:tcPr marL="133350" marR="133350" marT="114300" marB="95250" anchor="ctr">
                    <a:solidFill>
                      <a:srgbClr val="FFFFFF"/>
                    </a:solidFill>
                  </a:tcPr>
                </a:tc>
                <a:tc>
                  <a:txBody>
                    <a:bodyPr/>
                    <a:lstStyle/>
                    <a:p>
                      <a:r>
                        <a:rPr sz="2025">
                          <a:solidFill>
                            <a:srgbClr val="23312C"/>
                          </a:solidFill>
                          <a:latin typeface="DejaVu Sans"/>
                          <a:ea typeface="DejaVu Sans"/>
                          <a:cs typeface="DejaVu Sans"/>
                        </a:rPr>
                        <a:t>Crear, editar, eliminar y buscar</a:t>
                      </a:r>
                    </a:p>
                  </a:txBody>
                  <a:tcPr marL="133350" marR="133350" marT="114300" marB="95250" anchor="ctr">
                    <a:solidFill>
                      <a:srgbClr val="FFFFFF"/>
                    </a:solidFill>
                  </a:tcPr>
                </a:tc>
              </a:tr>
              <a:tr h="685800">
                <a:tc>
                  <a:txBody>
                    <a:bodyPr/>
                    <a:lstStyle/>
                    <a:p>
                      <a:r>
                        <a:rPr sz="2025">
                          <a:solidFill>
                            <a:srgbClr val="23312C"/>
                          </a:solidFill>
                          <a:latin typeface="DejaVu Sans"/>
                          <a:ea typeface="DejaVu Sans"/>
                          <a:cs typeface="DejaVu Sans"/>
                        </a:rPr>
                        <a:t>Stock</a:t>
                      </a:r>
                    </a:p>
                  </a:txBody>
                  <a:tcPr marL="133350" marR="133350" marT="114300" marB="95250" anchor="ctr">
                    <a:solidFill>
                      <a:srgbClr val="FFFFFF"/>
                    </a:solidFill>
                  </a:tcPr>
                </a:tc>
                <a:tc>
                  <a:txBody>
                    <a:bodyPr/>
                    <a:lstStyle/>
                    <a:p>
                      <a:r>
                        <a:rPr sz="2025">
                          <a:solidFill>
                            <a:srgbClr val="23312C"/>
                          </a:solidFill>
                          <a:latin typeface="DejaVu Sans"/>
                          <a:ea typeface="DejaVu Sans"/>
                          <a:cs typeface="DejaVu Sans"/>
                        </a:rPr>
                        <a:t>Aviso cuando alcanza el umbral crítico</a:t>
                      </a:r>
                    </a:p>
                  </a:txBody>
                  <a:tcPr marL="133350" marR="133350" marT="114300" marB="95250" anchor="ctr">
                    <a:solidFill>
                      <a:srgbClr val="FFFFFF"/>
                    </a:solidFill>
                  </a:tcPr>
                </a:tc>
              </a:tr>
              <a:tr h="685800">
                <a:tc>
                  <a:txBody>
                    <a:bodyPr/>
                    <a:lstStyle/>
                    <a:p>
                      <a:r>
                        <a:rPr sz="2025">
                          <a:solidFill>
                            <a:srgbClr val="23312C"/>
                          </a:solidFill>
                          <a:latin typeface="DejaVu Sans"/>
                          <a:ea typeface="DejaVu Sans"/>
                          <a:cs typeface="DejaVu Sans"/>
                        </a:rPr>
                        <a:t>Resumen</a:t>
                      </a:r>
                    </a:p>
                  </a:txBody>
                  <a:tcPr marL="133350" marR="133350" marT="114300" marB="95250" anchor="ctr">
                    <a:solidFill>
                      <a:srgbClr val="FFFFFF"/>
                    </a:solidFill>
                  </a:tcPr>
                </a:tc>
                <a:tc>
                  <a:txBody>
                    <a:bodyPr/>
                    <a:lstStyle/>
                    <a:p>
                      <a:r>
                        <a:rPr sz="2025">
                          <a:solidFill>
                            <a:srgbClr val="23312C"/>
                          </a:solidFill>
                          <a:latin typeface="DejaVu Sans"/>
                          <a:ea typeface="DejaVu Sans"/>
                          <a:cs typeface="DejaVu Sans"/>
                        </a:rPr>
                        <a:t>Conteo de usuarios y productos</a:t>
                      </a:r>
                    </a:p>
                  </a:txBody>
                  <a:tcPr marL="133350" marR="133350" marT="114300" marB="95250" anchor="ctr">
                    <a:solidFill>
                      <a:srgbClr val="FFFFFF"/>
                    </a:solidFill>
                  </a:tcPr>
                </a:tc>
              </a:tr>
            </a:tbl>
          </a:graphicData>
        </a:graphic>
      </p:graphicFrame>
      <p:sp>
        <p:nvSpPr>
          <p:cNvPr id="4" name="El panel reúne las tareas de mantenimiento en">
            <a:extLst xmlns:a="http://schemas.openxmlformats.org/drawingml/2006/main">
              <a:ext uri="{FF2B5EF4-FFF2-40B4-BE49-F238E27FC236}">
                <a16:creationId xmlns:a16="http://schemas.microsoft.com/office/drawing/2014/main" id="{F2CF0946-1CD1-498D-8885-D57189E2FD11}"/>
              </a:ext>
            </a:extLst>
          </p:cNvPr>
          <p:cNvSpPr>
            <a:spLocks xmlns:a="http://schemas.openxmlformats.org/drawingml/2006/main" noGrp="1"/>
          </p:cNvSpPr>
          <p:nvPr/>
        </p:nvSpPr>
        <p:spPr>
          <a:xfrm xmlns:a="http://schemas.openxmlformats.org/drawingml/2006/main">
            <a:off x="685800" y="5572125"/>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205942"/>
                </a:solidFill>
                <a:latin typeface="DejaVu Sans"/>
                <a:ea typeface="DejaVu Sans"/>
                <a:cs typeface="DejaVu Sans"/>
              </a:defRPr>
            </a:pPr>
            <a:r>
              <a:rPr sz="2175" b="1">
                <a:solidFill>
                  <a:srgbClr val="205942"/>
                </a:solidFill>
                <a:latin typeface="DejaVu Sans"/>
                <a:ea typeface="DejaVu Sans"/>
                <a:cs typeface="DejaVu Sans"/>
              </a:rPr>
              <a:t>El panel reúne las tareas de mantenimiento en un solo lugar.</a:t>
            </a:r>
          </a:p>
        </p:txBody>
      </p:sp>
      <p:sp>
        <p:nvSpPr>
          <p:cNvPr id="5" name="Datos locales de demostración. Falta conectar">
            <a:extLst xmlns:a="http://schemas.openxmlformats.org/drawingml/2006/main">
              <a:ext uri="{FF2B5EF4-FFF2-40B4-BE49-F238E27FC236}">
                <a16:creationId xmlns:a16="http://schemas.microsoft.com/office/drawing/2014/main" id="{CF3731A8-65D3-48A9-B05B-DF81978A354E}"/>
              </a:ext>
            </a:extLst>
          </p:cNvPr>
          <p:cNvSpPr>
            <a:spLocks xmlns:a="http://schemas.openxmlformats.org/drawingml/2006/main" noGrp="1"/>
          </p:cNvSpPr>
          <p:nvPr/>
        </p:nvSpPr>
        <p:spPr>
          <a:xfrm xmlns:a="http://schemas.openxmlformats.org/drawingml/2006/main">
            <a:off x="685800" y="619125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A6B64"/>
                </a:solidFill>
                <a:latin typeface="DejaVu Sans"/>
                <a:ea typeface="DejaVu Sans"/>
                <a:cs typeface="DejaVu Sans"/>
              </a:defRPr>
            </a:pPr>
            <a:r>
              <a:rPr sz="1350" b="0">
                <a:solidFill>
                  <a:srgbClr val="5A6B64"/>
                </a:solidFill>
                <a:latin typeface="DejaVu Sans"/>
                <a:ea typeface="DejaVu Sans"/>
                <a:cs typeface="DejaVu Sans"/>
              </a:rPr>
              <a:t>Datos locales de demostración. Falta conectar el panel con la tienda y proteger el acceso.</a:t>
            </a:r>
          </a:p>
        </p:txBody>
      </p:sp>
    </p:spTree>
    <p:extLst>
      <p:ext uri="{BB962C8B-B14F-4D97-AF65-F5344CB8AC3E}">
        <p14:creationId xmlns:p14="http://schemas.microsoft.com/office/powerpoint/2010/main" val="241599418"/>
      </p:ext>
    </p:extLst>
  </p:cSld>
</p:sld>
</file>

<file path=ppt/slides/slide8.xml><?xml version="1.0" encoding="utf-8"?>
<p:sld xmlns:p="http://schemas.openxmlformats.org/presentationml/2006/main">
  <p:cSld>
    <p:bg>
      <p:bgPr>
        <a:solidFill xmlns:a="http://schemas.openxmlformats.org/drawingml/2006/main">
          <a:srgbClr val="F7F9F8"/>
        </a:solidFill>
      </p:bgPr>
    </p:bg>
    <p:spTree>
      <p:nvGrpSpPr>
        <p:cNvPr id="1" name=""/>
        <p:cNvGrpSpPr/>
        <p:nvPr/>
      </p:nvGrpSpPr>
      <p:grpSpPr>
        <a:xfrm xmlns:a="http://schemas.openxmlformats.org/drawingml/2006/main"/>
      </p:grpSpPr>
      <p:sp>
        <p:nvSpPr>
          <p:cNvPr id="8" name="Una experiencia pensada para la web">
            <a:extLst xmlns:a="http://schemas.openxmlformats.org/drawingml/2006/main">
              <a:ext uri="{FF2B5EF4-FFF2-40B4-BE49-F238E27FC236}">
                <a16:creationId xmlns:a16="http://schemas.microsoft.com/office/drawing/2014/main" id="{A349AF6B-F3EC-4C64-8427-8F14FF894B06}"/>
              </a:ext>
            </a:extLst>
          </p:cNvPr>
          <p:cNvSpPr>
            <a:spLocks xmlns:a="http://schemas.openxmlformats.org/drawingml/2006/main" noGrp="1"/>
          </p:cNvSpPr>
          <p:nvPr/>
        </p:nvSpPr>
        <p:spPr>
          <a:xfrm xmlns:a="http://schemas.openxmlformats.org/drawingml/2006/main">
            <a:off x="647700" y="457200"/>
            <a:ext cx="108966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205942"/>
                </a:solidFill>
                <a:latin typeface="DejaVu Sans"/>
                <a:ea typeface="DejaVu Sans"/>
                <a:cs typeface="DejaVu Sans"/>
              </a:defRPr>
            </a:pPr>
            <a:r>
              <a:rPr sz="3300" b="1">
                <a:solidFill>
                  <a:srgbClr val="205942"/>
                </a:solidFill>
                <a:latin typeface="DejaVu Sans"/>
                <a:ea typeface="DejaVu Sans"/>
                <a:cs typeface="DejaVu Sans"/>
              </a:rPr>
              <a:t>Una experiencia pensada para la web</a:t>
            </a:r>
          </a:p>
        </p:txBody>
      </p:sp>
      <p:sp>
        <p:nvSpPr>
          <p:cNvPr id="2" name="08">
            <a:extLst xmlns:a="http://schemas.openxmlformats.org/drawingml/2006/main">
              <a:ext uri="{FF2B5EF4-FFF2-40B4-BE49-F238E27FC236}">
                <a16:creationId xmlns:a16="http://schemas.microsoft.com/office/drawing/2014/main" id="{6C8C546E-1F2A-4F5D-B29B-D8FE2156BF06}"/>
              </a:ext>
            </a:extLst>
          </p:cNvPr>
          <p:cNvSpPr>
            <a:spLocks xmlns:a="http://schemas.openxmlformats.org/drawingml/2006/main" noGrp="1"/>
          </p:cNvSpPr>
          <p:nvPr/>
        </p:nvSpPr>
        <p:spPr>
          <a:xfrm xmlns:a="http://schemas.openxmlformats.org/drawingml/2006/main">
            <a:off x="11144250" y="6400800"/>
            <a:ext cx="419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A6B64"/>
                </a:solidFill>
                <a:latin typeface="DejaVu Sans"/>
                <a:ea typeface="DejaVu Sans"/>
                <a:cs typeface="DejaVu Sans"/>
              </a:defRPr>
            </a:pPr>
            <a:r>
              <a:rPr sz="1275" b="0">
                <a:solidFill>
                  <a:srgbClr val="5A6B64"/>
                </a:solidFill>
                <a:latin typeface="DejaVu Sans"/>
                <a:ea typeface="DejaVu Sans"/>
                <a:cs typeface="DejaVu Sans"/>
              </a:rPr>
              <a:t>08</a:t>
            </a:r>
          </a:p>
        </p:txBody>
      </p:sp>
      <p:sp>
        <p:nvSpPr>
          <p:cNvPr id="3" name="Navegación adaptable">
            <a:extLst xmlns:a="http://schemas.openxmlformats.org/drawingml/2006/main">
              <a:ext uri="{FF2B5EF4-FFF2-40B4-BE49-F238E27FC236}">
                <a16:creationId xmlns:a16="http://schemas.microsoft.com/office/drawing/2014/main" id="{F2581668-16BA-4569-A3B8-EDDF955E8D43}"/>
              </a:ext>
            </a:extLst>
          </p:cNvPr>
          <p:cNvSpPr>
            <a:spLocks xmlns:a="http://schemas.openxmlformats.org/drawingml/2006/main" noGrp="1"/>
          </p:cNvSpPr>
          <p:nvPr/>
        </p:nvSpPr>
        <p:spPr>
          <a:xfrm xmlns:a="http://schemas.openxmlformats.org/drawingml/2006/main">
            <a:off x="685800" y="1809750"/>
            <a:ext cx="7143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205942"/>
                </a:solidFill>
                <a:latin typeface="DejaVu Sans"/>
                <a:ea typeface="DejaVu Sans"/>
                <a:cs typeface="DejaVu Sans"/>
              </a:defRPr>
            </a:pPr>
            <a:r>
              <a:rPr sz="3000" b="1">
                <a:solidFill>
                  <a:srgbClr val="205942"/>
                </a:solidFill>
                <a:latin typeface="DejaVu Sans"/>
                <a:ea typeface="DejaVu Sans"/>
                <a:cs typeface="DejaVu Sans"/>
              </a:rPr>
              <a:t>Navegación adaptable</a:t>
            </a:r>
          </a:p>
        </p:txBody>
      </p:sp>
      <p:sp>
        <p:nvSpPr>
          <p:cNvPr id="4" name="Menú móvil y distribución de contenido&#10;que ca">
            <a:extLst xmlns:a="http://schemas.openxmlformats.org/drawingml/2006/main">
              <a:ext uri="{FF2B5EF4-FFF2-40B4-BE49-F238E27FC236}">
                <a16:creationId xmlns:a16="http://schemas.microsoft.com/office/drawing/2014/main" id="{335DC726-F307-494A-BB69-7A887A58A89A}"/>
              </a:ext>
            </a:extLst>
          </p:cNvPr>
          <p:cNvSpPr>
            <a:spLocks xmlns:a="http://schemas.openxmlformats.org/drawingml/2006/main" noGrp="1"/>
          </p:cNvSpPr>
          <p:nvPr/>
        </p:nvSpPr>
        <p:spPr>
          <a:xfrm xmlns:a="http://schemas.openxmlformats.org/drawingml/2006/main">
            <a:off x="685800" y="2533650"/>
            <a:ext cx="10287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b="0">
                <a:solidFill>
                  <a:srgbClr val="23312C"/>
                </a:solidFill>
                <a:latin typeface="DejaVu Sans"/>
                <a:ea typeface="DejaVu Sans"/>
                <a:cs typeface="DejaVu Sans"/>
              </a:defRPr>
            </a:pPr>
            <a:r>
              <a:rPr sz="2400" b="0">
                <a:solidFill>
                  <a:srgbClr val="23312C"/>
                </a:solidFill>
                <a:latin typeface="DejaVu Sans"/>
                <a:ea typeface="DejaVu Sans"/>
                <a:cs typeface="DejaVu Sans"/>
              </a:rPr>
              <a:t>Menú móvil y distribución de contenido</a:t>
            </a:r>
          </a:p>
          <a:p xmlns:a="http://schemas.openxmlformats.org/drawingml/2006/main">
            <a:pPr>
              <a:defRPr sz="2400" b="0">
                <a:solidFill>
                  <a:srgbClr val="23312C"/>
                </a:solidFill>
                <a:latin typeface="DejaVu Sans"/>
                <a:ea typeface="DejaVu Sans"/>
                <a:cs typeface="DejaVu Sans"/>
              </a:defRPr>
            </a:pPr>
            <a:r>
              <a:rPr sz="2400" b="0">
                <a:solidFill>
                  <a:srgbClr val="23312C"/>
                </a:solidFill>
                <a:latin typeface="DejaVu Sans"/>
                <a:ea typeface="DejaVu Sans"/>
                <a:cs typeface="DejaVu Sans"/>
              </a:rPr>
              <a:t>que cambia según el ancho de pantalla.</a:t>
            </a:r>
          </a:p>
        </p:txBody>
      </p:sp>
      <p:sp>
        <p:nvSpPr>
          <p:cNvPr id="5" name="Información de la clínica">
            <a:extLst xmlns:a="http://schemas.openxmlformats.org/drawingml/2006/main">
              <a:ext uri="{FF2B5EF4-FFF2-40B4-BE49-F238E27FC236}">
                <a16:creationId xmlns:a16="http://schemas.microsoft.com/office/drawing/2014/main" id="{DBD1D0FC-7EF0-48D8-AF80-F278E8D34E58}"/>
              </a:ext>
            </a:extLst>
          </p:cNvPr>
          <p:cNvSpPr>
            <a:spLocks xmlns:a="http://schemas.openxmlformats.org/drawingml/2006/main" noGrp="1"/>
          </p:cNvSpPr>
          <p:nvPr/>
        </p:nvSpPr>
        <p:spPr>
          <a:xfrm xmlns:a="http://schemas.openxmlformats.org/drawingml/2006/main">
            <a:off x="685800" y="3971925"/>
            <a:ext cx="714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1">
                <a:solidFill>
                  <a:srgbClr val="205942"/>
                </a:solidFill>
                <a:latin typeface="DejaVu Sans"/>
                <a:ea typeface="DejaVu Sans"/>
                <a:cs typeface="DejaVu Sans"/>
              </a:defRPr>
            </a:pPr>
            <a:r>
              <a:rPr sz="2700" b="1">
                <a:solidFill>
                  <a:srgbClr val="205942"/>
                </a:solidFill>
                <a:latin typeface="DejaVu Sans"/>
                <a:ea typeface="DejaVu Sans"/>
                <a:cs typeface="DejaVu Sans"/>
              </a:rPr>
              <a:t>Información de la clínica</a:t>
            </a:r>
          </a:p>
        </p:txBody>
      </p:sp>
      <p:sp>
        <p:nvSpPr>
          <p:cNvPr id="6" name="Páginas de presentación y blog.&#10;Formulario de">
            <a:extLst xmlns:a="http://schemas.openxmlformats.org/drawingml/2006/main">
              <a:ext uri="{FF2B5EF4-FFF2-40B4-BE49-F238E27FC236}">
                <a16:creationId xmlns:a16="http://schemas.microsoft.com/office/drawing/2014/main" id="{9166245B-A0FE-4417-AFA0-3B201A1DDF00}"/>
              </a:ext>
            </a:extLst>
          </p:cNvPr>
          <p:cNvSpPr>
            <a:spLocks xmlns:a="http://schemas.openxmlformats.org/drawingml/2006/main" noGrp="1"/>
          </p:cNvSpPr>
          <p:nvPr/>
        </p:nvSpPr>
        <p:spPr>
          <a:xfrm xmlns:a="http://schemas.openxmlformats.org/drawingml/2006/main">
            <a:off x="685800" y="4667250"/>
            <a:ext cx="10477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23312C"/>
                </a:solidFill>
                <a:latin typeface="DejaVu Sans"/>
                <a:ea typeface="DejaVu Sans"/>
                <a:cs typeface="DejaVu Sans"/>
              </a:defRPr>
            </a:pPr>
            <a:r>
              <a:rPr sz="2250" b="0">
                <a:solidFill>
                  <a:srgbClr val="23312C"/>
                </a:solidFill>
                <a:latin typeface="DejaVu Sans"/>
                <a:ea typeface="DejaVu Sans"/>
                <a:cs typeface="DejaVu Sans"/>
              </a:rPr>
              <a:t>Páginas de presentación y blog.</a:t>
            </a:r>
          </a:p>
          <a:p xmlns:a="http://schemas.openxmlformats.org/drawingml/2006/main">
            <a:pPr>
              <a:defRPr sz="2250" b="0">
                <a:solidFill>
                  <a:srgbClr val="23312C"/>
                </a:solidFill>
                <a:latin typeface="DejaVu Sans"/>
                <a:ea typeface="DejaVu Sans"/>
                <a:cs typeface="DejaVu Sans"/>
              </a:defRPr>
            </a:pPr>
            <a:r>
              <a:rPr sz="2250" b="0">
                <a:solidFill>
                  <a:srgbClr val="23312C"/>
                </a:solidFill>
                <a:latin typeface="DejaVu Sans"/>
                <a:ea typeface="DejaVu Sans"/>
                <a:cs typeface="DejaVu Sans"/>
              </a:rPr>
              <a:t>Formulario de contacto y mapa incrustado de Rancagua.</a:t>
            </a:r>
          </a:p>
        </p:txBody>
      </p:sp>
      <p:sp>
        <p:nvSpPr>
          <p:cNvPr id="7" name="Acceso desde el navegador, sin instalar una a">
            <a:extLst xmlns:a="http://schemas.openxmlformats.org/drawingml/2006/main">
              <a:ext uri="{FF2B5EF4-FFF2-40B4-BE49-F238E27FC236}">
                <a16:creationId xmlns:a16="http://schemas.microsoft.com/office/drawing/2014/main" id="{660D4B6F-ACEF-4743-BA15-264D11491807}"/>
              </a:ext>
            </a:extLst>
          </p:cNvPr>
          <p:cNvSpPr>
            <a:spLocks xmlns:a="http://schemas.openxmlformats.org/drawingml/2006/main" noGrp="1"/>
          </p:cNvSpPr>
          <p:nvPr/>
        </p:nvSpPr>
        <p:spPr>
          <a:xfrm xmlns:a="http://schemas.openxmlformats.org/drawingml/2006/main">
            <a:off x="685800" y="6010275"/>
            <a:ext cx="1047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5A6B64"/>
                </a:solidFill>
                <a:latin typeface="DejaVu Sans"/>
                <a:ea typeface="DejaVu Sans"/>
                <a:cs typeface="DejaVu Sans"/>
              </a:defRPr>
            </a:pPr>
            <a:r>
              <a:rPr sz="1500" b="0">
                <a:solidFill>
                  <a:srgbClr val="5A6B64"/>
                </a:solidFill>
                <a:latin typeface="DejaVu Sans"/>
                <a:ea typeface="DejaVu Sans"/>
                <a:cs typeface="DejaVu Sans"/>
              </a:rPr>
              <a:t>Acceso desde el navegador, sin instalar una aplicación.</a:t>
            </a:r>
          </a:p>
        </p:txBody>
      </p:sp>
    </p:spTree>
    <p:extLst>
      <p:ext uri="{BB962C8B-B14F-4D97-AF65-F5344CB8AC3E}">
        <p14:creationId xmlns:p14="http://schemas.microsoft.com/office/powerpoint/2010/main" val="170905656"/>
      </p:ext>
    </p:extLst>
  </p:cSld>
</p:sld>
</file>

<file path=ppt/slides/slide9.xml><?xml version="1.0" encoding="utf-8"?>
<p:sld xmlns:p="http://schemas.openxmlformats.org/presentationml/2006/main">
  <p:cSld>
    <p:bg>
      <p:bgPr>
        <a:solidFill xmlns:a="http://schemas.openxmlformats.org/drawingml/2006/main">
          <a:srgbClr val="205942"/>
        </a:solidFill>
      </p:bgPr>
    </p:bg>
    <p:spTree>
      <p:nvGrpSpPr>
        <p:cNvPr id="1" name=""/>
        <p:cNvGrpSpPr/>
        <p:nvPr/>
      </p:nvGrpSpPr>
      <p:grpSpPr>
        <a:xfrm xmlns:a="http://schemas.openxmlformats.org/drawingml/2006/main"/>
      </p:grpSpPr>
      <p:sp>
        <p:nvSpPr>
          <p:cNvPr id="11" name="Valor para Veterinaria San Marcos">
            <a:extLst xmlns:a="http://schemas.openxmlformats.org/drawingml/2006/main">
              <a:ext uri="{FF2B5EF4-FFF2-40B4-BE49-F238E27FC236}">
                <a16:creationId xmlns:a16="http://schemas.microsoft.com/office/drawing/2014/main" id="{C044BB0C-A4CA-4058-93CD-D67478813F07}"/>
              </a:ext>
            </a:extLst>
          </p:cNvPr>
          <p:cNvSpPr>
            <a:spLocks xmlns:a="http://schemas.openxmlformats.org/drawingml/2006/main" noGrp="1"/>
          </p:cNvSpPr>
          <p:nvPr/>
        </p:nvSpPr>
        <p:spPr>
          <a:xfrm xmlns:a="http://schemas.openxmlformats.org/drawingml/2006/main">
            <a:off x="647700" y="457200"/>
            <a:ext cx="108966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FFFFFF"/>
                </a:solidFill>
                <a:latin typeface="DejaVu Sans"/>
                <a:ea typeface="DejaVu Sans"/>
                <a:cs typeface="DejaVu Sans"/>
              </a:defRPr>
            </a:pPr>
            <a:r>
              <a:rPr sz="3300" b="1">
                <a:solidFill>
                  <a:srgbClr val="FFFFFF"/>
                </a:solidFill>
                <a:latin typeface="DejaVu Sans"/>
                <a:ea typeface="DejaVu Sans"/>
                <a:cs typeface="DejaVu Sans"/>
              </a:rPr>
              <a:t>Valor para Veterinaria San Marcos</a:t>
            </a:r>
          </a:p>
        </p:txBody>
      </p:sp>
      <p:sp>
        <p:nvSpPr>
          <p:cNvPr id="2" name="09">
            <a:extLst xmlns:a="http://schemas.openxmlformats.org/drawingml/2006/main">
              <a:ext uri="{FF2B5EF4-FFF2-40B4-BE49-F238E27FC236}">
                <a16:creationId xmlns:a16="http://schemas.microsoft.com/office/drawing/2014/main" id="{96709417-7861-419D-AB6C-B4D00AA3998A}"/>
              </a:ext>
            </a:extLst>
          </p:cNvPr>
          <p:cNvSpPr>
            <a:spLocks xmlns:a="http://schemas.openxmlformats.org/drawingml/2006/main" noGrp="1"/>
          </p:cNvSpPr>
          <p:nvPr/>
        </p:nvSpPr>
        <p:spPr>
          <a:xfrm xmlns:a="http://schemas.openxmlformats.org/drawingml/2006/main">
            <a:off x="11144250" y="6400800"/>
            <a:ext cx="419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DDEBE3"/>
                </a:solidFill>
                <a:latin typeface="DejaVu Sans"/>
                <a:ea typeface="DejaVu Sans"/>
                <a:cs typeface="DejaVu Sans"/>
              </a:defRPr>
            </a:pPr>
            <a:r>
              <a:rPr sz="1275" b="0">
                <a:solidFill>
                  <a:srgbClr val="DDEBE3"/>
                </a:solidFill>
                <a:latin typeface="DejaVu Sans"/>
                <a:ea typeface="DejaVu Sans"/>
                <a:cs typeface="DejaVu Sans"/>
              </a:rPr>
              <a:t>09</a:t>
            </a:r>
          </a:p>
        </p:txBody>
      </p:sp>
      <p:sp>
        <p:nvSpPr>
          <p:cNvPr id="3" name="Oferta más visible">
            <a:extLst xmlns:a="http://schemas.openxmlformats.org/drawingml/2006/main">
              <a:ext uri="{FF2B5EF4-FFF2-40B4-BE49-F238E27FC236}">
                <a16:creationId xmlns:a16="http://schemas.microsoft.com/office/drawing/2014/main" id="{8854C124-FBE7-4E9E-9467-AC78BBDD92D6}"/>
              </a:ext>
            </a:extLst>
          </p:cNvPr>
          <p:cNvSpPr>
            <a:spLocks xmlns:a="http://schemas.openxmlformats.org/drawingml/2006/main" noGrp="1"/>
          </p:cNvSpPr>
          <p:nvPr/>
        </p:nvSpPr>
        <p:spPr>
          <a:xfrm xmlns:a="http://schemas.openxmlformats.org/drawingml/2006/main">
            <a:off x="685800" y="1885950"/>
            <a:ext cx="4953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F2A541"/>
                </a:solidFill>
                <a:latin typeface="DejaVu Sans"/>
                <a:ea typeface="DejaVu Sans"/>
                <a:cs typeface="DejaVu Sans"/>
              </a:defRPr>
            </a:pPr>
            <a:r>
              <a:rPr sz="2175" b="1">
                <a:solidFill>
                  <a:srgbClr val="F2A541"/>
                </a:solidFill>
                <a:latin typeface="DejaVu Sans"/>
                <a:ea typeface="DejaVu Sans"/>
                <a:cs typeface="DejaVu Sans"/>
              </a:rPr>
              <a:t>Oferta más visible</a:t>
            </a:r>
          </a:p>
        </p:txBody>
      </p:sp>
      <p:sp>
        <p:nvSpPr>
          <p:cNvPr id="4" name="Productos, servicios y precios&#10;reunidos en un">
            <a:extLst xmlns:a="http://schemas.openxmlformats.org/drawingml/2006/main">
              <a:ext uri="{FF2B5EF4-FFF2-40B4-BE49-F238E27FC236}">
                <a16:creationId xmlns:a16="http://schemas.microsoft.com/office/drawing/2014/main" id="{6B70DE0C-3848-4080-AA96-FDAD78604807}"/>
              </a:ext>
            </a:extLst>
          </p:cNvPr>
          <p:cNvSpPr>
            <a:spLocks xmlns:a="http://schemas.openxmlformats.org/drawingml/2006/main" noGrp="1"/>
          </p:cNvSpPr>
          <p:nvPr/>
        </p:nvSpPr>
        <p:spPr>
          <a:xfrm xmlns:a="http://schemas.openxmlformats.org/drawingml/2006/main">
            <a:off x="685800" y="2457450"/>
            <a:ext cx="49530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FFFFFF"/>
                </a:solidFill>
                <a:latin typeface="DejaVu Sans"/>
                <a:ea typeface="DejaVu Sans"/>
                <a:cs typeface="DejaVu Sans"/>
              </a:defRPr>
            </a:pPr>
            <a:r>
              <a:rPr sz="2025" b="0">
                <a:solidFill>
                  <a:srgbClr val="FFFFFF"/>
                </a:solidFill>
                <a:latin typeface="DejaVu Sans"/>
                <a:ea typeface="DejaVu Sans"/>
                <a:cs typeface="DejaVu Sans"/>
              </a:rPr>
              <a:t>Productos, servicios y precios</a:t>
            </a:r>
          </a:p>
          <a:p xmlns:a="http://schemas.openxmlformats.org/drawingml/2006/main">
            <a:pPr>
              <a:defRPr sz="2025" b="0">
                <a:solidFill>
                  <a:srgbClr val="FFFFFF"/>
                </a:solidFill>
                <a:latin typeface="DejaVu Sans"/>
                <a:ea typeface="DejaVu Sans"/>
                <a:cs typeface="DejaVu Sans"/>
              </a:defRPr>
            </a:pPr>
            <a:r>
              <a:rPr sz="2025" b="0">
                <a:solidFill>
                  <a:srgbClr val="FFFFFF"/>
                </a:solidFill>
                <a:latin typeface="DejaVu Sans"/>
                <a:ea typeface="DejaVu Sans"/>
                <a:cs typeface="DejaVu Sans"/>
              </a:rPr>
              <a:t>reunidos en un catálogo.</a:t>
            </a:r>
          </a:p>
        </p:txBody>
      </p:sp>
      <p:sp>
        <p:nvSpPr>
          <p:cNvPr id="5" name="Compra más clara">
            <a:extLst xmlns:a="http://schemas.openxmlformats.org/drawingml/2006/main">
              <a:ext uri="{FF2B5EF4-FFF2-40B4-BE49-F238E27FC236}">
                <a16:creationId xmlns:a16="http://schemas.microsoft.com/office/drawing/2014/main" id="{1BE6C37A-D27F-481B-B5E4-A515B6A0FA1F}"/>
              </a:ext>
            </a:extLst>
          </p:cNvPr>
          <p:cNvSpPr>
            <a:spLocks xmlns:a="http://schemas.openxmlformats.org/drawingml/2006/main" noGrp="1"/>
          </p:cNvSpPr>
          <p:nvPr/>
        </p:nvSpPr>
        <p:spPr>
          <a:xfrm xmlns:a="http://schemas.openxmlformats.org/drawingml/2006/main">
            <a:off x="6553200" y="1885950"/>
            <a:ext cx="4953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F2A541"/>
                </a:solidFill>
                <a:latin typeface="DejaVu Sans"/>
                <a:ea typeface="DejaVu Sans"/>
                <a:cs typeface="DejaVu Sans"/>
              </a:defRPr>
            </a:pPr>
            <a:r>
              <a:rPr sz="2175" b="1">
                <a:solidFill>
                  <a:srgbClr val="F2A541"/>
                </a:solidFill>
                <a:latin typeface="DejaVu Sans"/>
                <a:ea typeface="DejaVu Sans"/>
                <a:cs typeface="DejaVu Sans"/>
              </a:rPr>
              <a:t>Compra más clara</a:t>
            </a:r>
          </a:p>
        </p:txBody>
      </p:sp>
      <p:sp>
        <p:nvSpPr>
          <p:cNvPr id="6" name="El cliente controla cantidades&#10;y conoce el to">
            <a:extLst xmlns:a="http://schemas.openxmlformats.org/drawingml/2006/main">
              <a:ext uri="{FF2B5EF4-FFF2-40B4-BE49-F238E27FC236}">
                <a16:creationId xmlns:a16="http://schemas.microsoft.com/office/drawing/2014/main" id="{11E220AA-7BC9-4EC0-992D-1172106B5153}"/>
              </a:ext>
            </a:extLst>
          </p:cNvPr>
          <p:cNvSpPr>
            <a:spLocks xmlns:a="http://schemas.openxmlformats.org/drawingml/2006/main" noGrp="1"/>
          </p:cNvSpPr>
          <p:nvPr/>
        </p:nvSpPr>
        <p:spPr>
          <a:xfrm xmlns:a="http://schemas.openxmlformats.org/drawingml/2006/main">
            <a:off x="6553200" y="2457450"/>
            <a:ext cx="49530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FFFFFF"/>
                </a:solidFill>
                <a:latin typeface="DejaVu Sans"/>
                <a:ea typeface="DejaVu Sans"/>
                <a:cs typeface="DejaVu Sans"/>
              </a:defRPr>
            </a:pPr>
            <a:r>
              <a:rPr sz="2025" b="0">
                <a:solidFill>
                  <a:srgbClr val="FFFFFF"/>
                </a:solidFill>
                <a:latin typeface="DejaVu Sans"/>
                <a:ea typeface="DejaVu Sans"/>
                <a:cs typeface="DejaVu Sans"/>
              </a:rPr>
              <a:t>El cliente controla cantidades</a:t>
            </a:r>
          </a:p>
          <a:p xmlns:a="http://schemas.openxmlformats.org/drawingml/2006/main">
            <a:pPr>
              <a:defRPr sz="2025" b="0">
                <a:solidFill>
                  <a:srgbClr val="FFFFFF"/>
                </a:solidFill>
                <a:latin typeface="DejaVu Sans"/>
                <a:ea typeface="DejaVu Sans"/>
                <a:cs typeface="DejaVu Sans"/>
              </a:defRPr>
            </a:pPr>
            <a:r>
              <a:rPr sz="2025" b="0">
                <a:solidFill>
                  <a:srgbClr val="FFFFFF"/>
                </a:solidFill>
                <a:latin typeface="DejaVu Sans"/>
                <a:ea typeface="DejaVu Sans"/>
                <a:cs typeface="DejaVu Sans"/>
              </a:rPr>
              <a:t>y conoce el total de su selección.</a:t>
            </a:r>
          </a:p>
        </p:txBody>
      </p:sp>
      <p:sp>
        <p:nvSpPr>
          <p:cNvPr id="7" name="Gestión más ordenada">
            <a:extLst xmlns:a="http://schemas.openxmlformats.org/drawingml/2006/main">
              <a:ext uri="{FF2B5EF4-FFF2-40B4-BE49-F238E27FC236}">
                <a16:creationId xmlns:a16="http://schemas.microsoft.com/office/drawing/2014/main" id="{8BFEFE4A-EBC6-47E7-B5DB-07C69BBEEAB8}"/>
              </a:ext>
            </a:extLst>
          </p:cNvPr>
          <p:cNvSpPr>
            <a:spLocks xmlns:a="http://schemas.openxmlformats.org/drawingml/2006/main" noGrp="1"/>
          </p:cNvSpPr>
          <p:nvPr/>
        </p:nvSpPr>
        <p:spPr>
          <a:xfrm xmlns:a="http://schemas.openxmlformats.org/drawingml/2006/main">
            <a:off x="685800" y="4057650"/>
            <a:ext cx="4953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F2A541"/>
                </a:solidFill>
                <a:latin typeface="DejaVu Sans"/>
                <a:ea typeface="DejaVu Sans"/>
                <a:cs typeface="DejaVu Sans"/>
              </a:defRPr>
            </a:pPr>
            <a:r>
              <a:rPr sz="2175" b="1">
                <a:solidFill>
                  <a:srgbClr val="F2A541"/>
                </a:solidFill>
                <a:latin typeface="DejaVu Sans"/>
                <a:ea typeface="DejaVu Sans"/>
                <a:cs typeface="DejaVu Sans"/>
              </a:rPr>
              <a:t>Gestión más ordenada</a:t>
            </a:r>
          </a:p>
        </p:txBody>
      </p:sp>
      <p:sp>
        <p:nvSpPr>
          <p:cNvPr id="8" name="El panel concentra la edición&#10;y búsqueda de r">
            <a:extLst xmlns:a="http://schemas.openxmlformats.org/drawingml/2006/main">
              <a:ext uri="{FF2B5EF4-FFF2-40B4-BE49-F238E27FC236}">
                <a16:creationId xmlns:a16="http://schemas.microsoft.com/office/drawing/2014/main" id="{DAE8287C-BEA8-4380-865C-4D08E2D3AF02}"/>
              </a:ext>
            </a:extLst>
          </p:cNvPr>
          <p:cNvSpPr>
            <a:spLocks xmlns:a="http://schemas.openxmlformats.org/drawingml/2006/main" noGrp="1"/>
          </p:cNvSpPr>
          <p:nvPr/>
        </p:nvSpPr>
        <p:spPr>
          <a:xfrm xmlns:a="http://schemas.openxmlformats.org/drawingml/2006/main">
            <a:off x="685800" y="4629150"/>
            <a:ext cx="49530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FFFFFF"/>
                </a:solidFill>
                <a:latin typeface="DejaVu Sans"/>
                <a:ea typeface="DejaVu Sans"/>
                <a:cs typeface="DejaVu Sans"/>
              </a:defRPr>
            </a:pPr>
            <a:r>
              <a:rPr sz="2025" b="0">
                <a:solidFill>
                  <a:srgbClr val="FFFFFF"/>
                </a:solidFill>
                <a:latin typeface="DejaVu Sans"/>
                <a:ea typeface="DejaVu Sans"/>
                <a:cs typeface="DejaVu Sans"/>
              </a:rPr>
              <a:t>El panel concentra la edición</a:t>
            </a:r>
          </a:p>
          <a:p xmlns:a="http://schemas.openxmlformats.org/drawingml/2006/main">
            <a:pPr>
              <a:defRPr sz="2025" b="0">
                <a:solidFill>
                  <a:srgbClr val="FFFFFF"/>
                </a:solidFill>
                <a:latin typeface="DejaVu Sans"/>
                <a:ea typeface="DejaVu Sans"/>
                <a:cs typeface="DejaVu Sans"/>
              </a:defRPr>
            </a:pPr>
            <a:r>
              <a:rPr sz="2025" b="0">
                <a:solidFill>
                  <a:srgbClr val="FFFFFF"/>
                </a:solidFill>
                <a:latin typeface="DejaVu Sans"/>
                <a:ea typeface="DejaVu Sans"/>
                <a:cs typeface="DejaVu Sans"/>
              </a:rPr>
              <a:t>y búsqueda de registros.</a:t>
            </a:r>
          </a:p>
        </p:txBody>
      </p:sp>
      <p:sp>
        <p:nvSpPr>
          <p:cNvPr id="9" name="Base para crecer">
            <a:extLst xmlns:a="http://schemas.openxmlformats.org/drawingml/2006/main">
              <a:ext uri="{FF2B5EF4-FFF2-40B4-BE49-F238E27FC236}">
                <a16:creationId xmlns:a16="http://schemas.microsoft.com/office/drawing/2014/main" id="{C5711897-CCA8-47F2-B6D8-A678B1FEA673}"/>
              </a:ext>
            </a:extLst>
          </p:cNvPr>
          <p:cNvSpPr>
            <a:spLocks xmlns:a="http://schemas.openxmlformats.org/drawingml/2006/main" noGrp="1"/>
          </p:cNvSpPr>
          <p:nvPr/>
        </p:nvSpPr>
        <p:spPr>
          <a:xfrm xmlns:a="http://schemas.openxmlformats.org/drawingml/2006/main">
            <a:off x="6553200" y="4057650"/>
            <a:ext cx="4953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F2A541"/>
                </a:solidFill>
                <a:latin typeface="DejaVu Sans"/>
                <a:ea typeface="DejaVu Sans"/>
                <a:cs typeface="DejaVu Sans"/>
              </a:defRPr>
            </a:pPr>
            <a:r>
              <a:rPr sz="2175" b="1">
                <a:solidFill>
                  <a:srgbClr val="F2A541"/>
                </a:solidFill>
                <a:latin typeface="DejaVu Sans"/>
                <a:ea typeface="DejaVu Sans"/>
                <a:cs typeface="DejaVu Sans"/>
              </a:rPr>
              <a:t>Base para crecer</a:t>
            </a:r>
          </a:p>
        </p:txBody>
      </p:sp>
      <p:sp>
        <p:nvSpPr>
          <p:cNvPr id="10" name="Una experiencia definida antes&#10;de integrar lo">
            <a:extLst xmlns:a="http://schemas.openxmlformats.org/drawingml/2006/main">
              <a:ext uri="{FF2B5EF4-FFF2-40B4-BE49-F238E27FC236}">
                <a16:creationId xmlns:a16="http://schemas.microsoft.com/office/drawing/2014/main" id="{B8C8A0EE-5C59-420D-8844-599A44DAC085}"/>
              </a:ext>
            </a:extLst>
          </p:cNvPr>
          <p:cNvSpPr>
            <a:spLocks xmlns:a="http://schemas.openxmlformats.org/drawingml/2006/main" noGrp="1"/>
          </p:cNvSpPr>
          <p:nvPr/>
        </p:nvSpPr>
        <p:spPr>
          <a:xfrm xmlns:a="http://schemas.openxmlformats.org/drawingml/2006/main">
            <a:off x="6553200" y="4629150"/>
            <a:ext cx="49530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FFFFFF"/>
                </a:solidFill>
                <a:latin typeface="DejaVu Sans"/>
                <a:ea typeface="DejaVu Sans"/>
                <a:cs typeface="DejaVu Sans"/>
              </a:defRPr>
            </a:pPr>
            <a:r>
              <a:rPr sz="2025" b="0">
                <a:solidFill>
                  <a:srgbClr val="FFFFFF"/>
                </a:solidFill>
                <a:latin typeface="DejaVu Sans"/>
                <a:ea typeface="DejaVu Sans"/>
                <a:cs typeface="DejaVu Sans"/>
              </a:rPr>
              <a:t>Una experiencia definida antes</a:t>
            </a:r>
          </a:p>
          <a:p xmlns:a="http://schemas.openxmlformats.org/drawingml/2006/main">
            <a:pPr>
              <a:defRPr sz="2025" b="0">
                <a:solidFill>
                  <a:srgbClr val="FFFFFF"/>
                </a:solidFill>
                <a:latin typeface="DejaVu Sans"/>
                <a:ea typeface="DejaVu Sans"/>
                <a:cs typeface="DejaVu Sans"/>
              </a:defRPr>
            </a:pPr>
            <a:r>
              <a:rPr sz="2025" b="0">
                <a:solidFill>
                  <a:srgbClr val="FFFFFF"/>
                </a:solidFill>
                <a:latin typeface="DejaVu Sans"/>
                <a:ea typeface="DejaVu Sans"/>
                <a:cs typeface="DejaVu Sans"/>
              </a:rPr>
              <a:t>de integrar los servicios del sistema.</a:t>
            </a:r>
          </a:p>
        </p:txBody>
      </p:sp>
    </p:spTree>
    <p:extLst>
      <p:ext uri="{BB962C8B-B14F-4D97-AF65-F5344CB8AC3E}">
        <p14:creationId xmlns:p14="http://schemas.microsoft.com/office/powerpoint/2010/main" val="1125652622"/>
      </p:ext>
    </p:extLst>
  </p:cSld>
</p:sld>
</file>

<file path=ppt/slides/slide10.xml><?xml version="1.0" encoding="utf-8"?>
<p:sld xmlns:p="http://schemas.openxmlformats.org/presentationml/2006/main">
  <p:cSld>
    <p:bg>
      <p:bgPr>
        <a:solidFill xmlns:a="http://schemas.openxmlformats.org/drawingml/2006/main">
          <a:srgbClr val="F7F9F8"/>
        </a:solidFill>
      </p:bgPr>
    </p:bg>
    <p:spTree>
      <p:nvGrpSpPr>
        <p:cNvPr id="1" name=""/>
        <p:cNvGrpSpPr/>
        <p:nvPr/>
      </p:nvGrpSpPr>
      <p:grpSpPr>
        <a:xfrm xmlns:a="http://schemas.openxmlformats.org/drawingml/2006/main"/>
      </p:grpSpPr>
      <p:sp>
        <p:nvSpPr>
          <p:cNvPr id="8" name="La evolución del programa">
            <a:extLst xmlns:a="http://schemas.openxmlformats.org/drawingml/2006/main">
              <a:ext uri="{FF2B5EF4-FFF2-40B4-BE49-F238E27FC236}">
                <a16:creationId xmlns:a16="http://schemas.microsoft.com/office/drawing/2014/main" id="{F1D70C71-8A0C-4257-A4C6-BA187655FE80}"/>
              </a:ext>
            </a:extLst>
          </p:cNvPr>
          <p:cNvSpPr>
            <a:spLocks xmlns:a="http://schemas.openxmlformats.org/drawingml/2006/main" noGrp="1"/>
          </p:cNvSpPr>
          <p:nvPr/>
        </p:nvSpPr>
        <p:spPr>
          <a:xfrm xmlns:a="http://schemas.openxmlformats.org/drawingml/2006/main">
            <a:off x="647700" y="457200"/>
            <a:ext cx="108966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205942"/>
                </a:solidFill>
                <a:latin typeface="DejaVu Sans"/>
                <a:ea typeface="DejaVu Sans"/>
                <a:cs typeface="DejaVu Sans"/>
              </a:defRPr>
            </a:pPr>
            <a:r>
              <a:rPr sz="3300" b="1">
                <a:solidFill>
                  <a:srgbClr val="205942"/>
                </a:solidFill>
                <a:latin typeface="DejaVu Sans"/>
                <a:ea typeface="DejaVu Sans"/>
                <a:cs typeface="DejaVu Sans"/>
              </a:rPr>
              <a:t>La evolución del programa</a:t>
            </a:r>
          </a:p>
        </p:txBody>
      </p:sp>
      <p:sp>
        <p:nvSpPr>
          <p:cNvPr id="2" name="10">
            <a:extLst xmlns:a="http://schemas.openxmlformats.org/drawingml/2006/main">
              <a:ext uri="{FF2B5EF4-FFF2-40B4-BE49-F238E27FC236}">
                <a16:creationId xmlns:a16="http://schemas.microsoft.com/office/drawing/2014/main" id="{1B5B32FE-EFA2-497F-AF4E-B108FD6D7227}"/>
              </a:ext>
            </a:extLst>
          </p:cNvPr>
          <p:cNvSpPr>
            <a:spLocks xmlns:a="http://schemas.openxmlformats.org/drawingml/2006/main" noGrp="1"/>
          </p:cNvSpPr>
          <p:nvPr/>
        </p:nvSpPr>
        <p:spPr>
          <a:xfrm xmlns:a="http://schemas.openxmlformats.org/drawingml/2006/main">
            <a:off x="11144250" y="6400800"/>
            <a:ext cx="419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A6B64"/>
                </a:solidFill>
                <a:latin typeface="DejaVu Sans"/>
                <a:ea typeface="DejaVu Sans"/>
                <a:cs typeface="DejaVu Sans"/>
              </a:defRPr>
            </a:pPr>
            <a:r>
              <a:rPr sz="1275" b="0">
                <a:solidFill>
                  <a:srgbClr val="5A6B64"/>
                </a:solidFill>
                <a:latin typeface="DejaVu Sans"/>
                <a:ea typeface="DejaVu Sans"/>
                <a:cs typeface="DejaVu Sans"/>
              </a:rPr>
              <a:t>10</a:t>
            </a:r>
          </a:p>
        </p:txBody>
      </p:sp>
      <p:sp>
        <p:nvSpPr>
          <p:cNvPr id="3" name="Versión actual">
            <a:extLst xmlns:a="http://schemas.openxmlformats.org/drawingml/2006/main">
              <a:ext uri="{FF2B5EF4-FFF2-40B4-BE49-F238E27FC236}">
                <a16:creationId xmlns:a16="http://schemas.microsoft.com/office/drawing/2014/main" id="{ACC3CC08-25F3-4A71-9C6F-3671778839EF}"/>
              </a:ext>
            </a:extLst>
          </p:cNvPr>
          <p:cNvSpPr>
            <a:spLocks xmlns:a="http://schemas.openxmlformats.org/drawingml/2006/main" noGrp="1"/>
          </p:cNvSpPr>
          <p:nvPr/>
        </p:nvSpPr>
        <p:spPr>
          <a:xfrm xmlns:a="http://schemas.openxmlformats.org/drawingml/2006/main">
            <a:off x="685800" y="1762125"/>
            <a:ext cx="4857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1">
                <a:solidFill>
                  <a:srgbClr val="205942"/>
                </a:solidFill>
                <a:latin typeface="DejaVu Sans"/>
                <a:ea typeface="DejaVu Sans"/>
                <a:cs typeface="DejaVu Sans"/>
              </a:defRPr>
            </a:pPr>
            <a:r>
              <a:rPr sz="2550" b="1">
                <a:solidFill>
                  <a:srgbClr val="205942"/>
                </a:solidFill>
                <a:latin typeface="DejaVu Sans"/>
                <a:ea typeface="DejaVu Sans"/>
                <a:cs typeface="DejaVu Sans"/>
              </a:rPr>
              <a:t>Versión actual</a:t>
            </a:r>
          </a:p>
        </p:txBody>
      </p:sp>
      <p:sp>
        <p:nvSpPr>
          <p:cNvPr id="4" name="HTML, CSS y JavaScript&#10;&#10;Catálogo y carrito&#10;&#10;P">
            <a:extLst xmlns:a="http://schemas.openxmlformats.org/drawingml/2006/main">
              <a:ext uri="{FF2B5EF4-FFF2-40B4-BE49-F238E27FC236}">
                <a16:creationId xmlns:a16="http://schemas.microsoft.com/office/drawing/2014/main" id="{1C2611EE-DA85-4B3E-B046-24077C11D4F7}"/>
              </a:ext>
            </a:extLst>
          </p:cNvPr>
          <p:cNvSpPr>
            <a:spLocks xmlns:a="http://schemas.openxmlformats.org/drawingml/2006/main" noGrp="1"/>
          </p:cNvSpPr>
          <p:nvPr/>
        </p:nvSpPr>
        <p:spPr>
          <a:xfrm xmlns:a="http://schemas.openxmlformats.org/drawingml/2006/main">
            <a:off x="685800" y="2476500"/>
            <a:ext cx="5095875" cy="2809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23312C"/>
                </a:solidFill>
                <a:latin typeface="DejaVu Sans"/>
                <a:ea typeface="DejaVu Sans"/>
                <a:cs typeface="DejaVu Sans"/>
              </a:defRPr>
            </a:pPr>
            <a:r>
              <a:rPr sz="2025" b="0">
                <a:solidFill>
                  <a:srgbClr val="23312C"/>
                </a:solidFill>
                <a:latin typeface="DejaVu Sans"/>
                <a:ea typeface="DejaVu Sans"/>
                <a:cs typeface="DejaVu Sans"/>
              </a:rPr>
              <a:t>HTML, CSS y JavaScript</a:t>
            </a:r>
          </a:p>
          <a:p xmlns:a="http://schemas.openxmlformats.org/drawingml/2006/main">
            <a:r>
              <a:t/>
            </a:r>
          </a:p>
          <a:p xmlns:a="http://schemas.openxmlformats.org/drawingml/2006/main">
            <a:pPr>
              <a:defRPr sz="2025" b="0">
                <a:solidFill>
                  <a:srgbClr val="23312C"/>
                </a:solidFill>
                <a:latin typeface="DejaVu Sans"/>
                <a:ea typeface="DejaVu Sans"/>
                <a:cs typeface="DejaVu Sans"/>
              </a:defRPr>
            </a:pPr>
            <a:r>
              <a:rPr sz="2025" b="0">
                <a:solidFill>
                  <a:srgbClr val="23312C"/>
                </a:solidFill>
                <a:latin typeface="DejaVu Sans"/>
                <a:ea typeface="DejaVu Sans"/>
                <a:cs typeface="DejaVu Sans"/>
              </a:rPr>
              <a:t>Catálogo y carrito</a:t>
            </a:r>
          </a:p>
          <a:p xmlns:a="http://schemas.openxmlformats.org/drawingml/2006/main">
            <a:r>
              <a:t/>
            </a:r>
          </a:p>
          <a:p xmlns:a="http://schemas.openxmlformats.org/drawingml/2006/main">
            <a:pPr>
              <a:defRPr sz="2025" b="0">
                <a:solidFill>
                  <a:srgbClr val="23312C"/>
                </a:solidFill>
                <a:latin typeface="DejaVu Sans"/>
                <a:ea typeface="DejaVu Sans"/>
                <a:cs typeface="DejaVu Sans"/>
              </a:defRPr>
            </a:pPr>
            <a:r>
              <a:rPr sz="2025" b="0">
                <a:solidFill>
                  <a:srgbClr val="23312C"/>
                </a:solidFill>
                <a:latin typeface="DejaVu Sans"/>
                <a:ea typeface="DejaVu Sans"/>
                <a:cs typeface="DejaVu Sans"/>
              </a:rPr>
              <a:t>Panel con almacenamiento local</a:t>
            </a:r>
          </a:p>
          <a:p xmlns:a="http://schemas.openxmlformats.org/drawingml/2006/main">
            <a:r>
              <a:t/>
            </a:r>
          </a:p>
          <a:p xmlns:a="http://schemas.openxmlformats.org/drawingml/2006/main">
            <a:pPr>
              <a:defRPr sz="2025" b="0">
                <a:solidFill>
                  <a:srgbClr val="23312C"/>
                </a:solidFill>
                <a:latin typeface="DejaVu Sans"/>
                <a:ea typeface="DejaVu Sans"/>
                <a:cs typeface="DejaVu Sans"/>
              </a:defRPr>
            </a:pPr>
            <a:r>
              <a:rPr sz="2025" b="0">
                <a:solidFill>
                  <a:srgbClr val="23312C"/>
                </a:solidFill>
                <a:latin typeface="DejaVu Sans"/>
                <a:ea typeface="DejaVu Sans"/>
                <a:cs typeface="DejaVu Sans"/>
              </a:rPr>
              <a:t>Formularios de demostración</a:t>
            </a:r>
          </a:p>
        </p:txBody>
      </p:sp>
      <p:sp>
        <p:nvSpPr>
          <p:cNvPr id="5" name="Siguiente etapa">
            <a:extLst xmlns:a="http://schemas.openxmlformats.org/drawingml/2006/main">
              <a:ext uri="{FF2B5EF4-FFF2-40B4-BE49-F238E27FC236}">
                <a16:creationId xmlns:a16="http://schemas.microsoft.com/office/drawing/2014/main" id="{F5CCB442-1524-436C-B176-9F7C62885D03}"/>
              </a:ext>
            </a:extLst>
          </p:cNvPr>
          <p:cNvSpPr>
            <a:spLocks xmlns:a="http://schemas.openxmlformats.org/drawingml/2006/main" noGrp="1"/>
          </p:cNvSpPr>
          <p:nvPr/>
        </p:nvSpPr>
        <p:spPr>
          <a:xfrm xmlns:a="http://schemas.openxmlformats.org/drawingml/2006/main">
            <a:off x="6648450" y="1762125"/>
            <a:ext cx="4857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1">
                <a:solidFill>
                  <a:srgbClr val="205942"/>
                </a:solidFill>
                <a:latin typeface="DejaVu Sans"/>
                <a:ea typeface="DejaVu Sans"/>
                <a:cs typeface="DejaVu Sans"/>
              </a:defRPr>
            </a:pPr>
            <a:r>
              <a:rPr sz="2550" b="1">
                <a:solidFill>
                  <a:srgbClr val="205942"/>
                </a:solidFill>
                <a:latin typeface="DejaVu Sans"/>
                <a:ea typeface="DejaVu Sans"/>
                <a:cs typeface="DejaVu Sans"/>
              </a:rPr>
              <a:t>Siguiente etapa</a:t>
            </a:r>
          </a:p>
        </p:txBody>
      </p:sp>
      <p:sp>
        <p:nvSpPr>
          <p:cNvPr id="6" name="React y microservicios Spring Boot&#10;&#10;Base de d">
            <a:extLst xmlns:a="http://schemas.openxmlformats.org/drawingml/2006/main">
              <a:ext uri="{FF2B5EF4-FFF2-40B4-BE49-F238E27FC236}">
                <a16:creationId xmlns:a16="http://schemas.microsoft.com/office/drawing/2014/main" id="{2A098D82-48FD-458A-82BB-EC8804E2A85C}"/>
              </a:ext>
            </a:extLst>
          </p:cNvPr>
          <p:cNvSpPr>
            <a:spLocks xmlns:a="http://schemas.openxmlformats.org/drawingml/2006/main" noGrp="1"/>
          </p:cNvSpPr>
          <p:nvPr/>
        </p:nvSpPr>
        <p:spPr>
          <a:xfrm xmlns:a="http://schemas.openxmlformats.org/drawingml/2006/main">
            <a:off x="6648450" y="2476500"/>
            <a:ext cx="4857750" cy="2809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23312C"/>
                </a:solidFill>
                <a:latin typeface="DejaVu Sans"/>
                <a:ea typeface="DejaVu Sans"/>
                <a:cs typeface="DejaVu Sans"/>
              </a:defRPr>
            </a:pPr>
            <a:r>
              <a:rPr sz="2025" b="0">
                <a:solidFill>
                  <a:srgbClr val="23312C"/>
                </a:solidFill>
                <a:latin typeface="DejaVu Sans"/>
                <a:ea typeface="DejaVu Sans"/>
                <a:cs typeface="DejaVu Sans"/>
              </a:rPr>
              <a:t>React y microservicios Spring Boot</a:t>
            </a:r>
          </a:p>
          <a:p xmlns:a="http://schemas.openxmlformats.org/drawingml/2006/main">
            <a:r>
              <a:t/>
            </a:r>
          </a:p>
          <a:p xmlns:a="http://schemas.openxmlformats.org/drawingml/2006/main">
            <a:pPr>
              <a:defRPr sz="2025" b="0">
                <a:solidFill>
                  <a:srgbClr val="23312C"/>
                </a:solidFill>
                <a:latin typeface="DejaVu Sans"/>
                <a:ea typeface="DejaVu Sans"/>
                <a:cs typeface="DejaVu Sans"/>
              </a:defRPr>
            </a:pPr>
            <a:r>
              <a:rPr sz="2025" b="0">
                <a:solidFill>
                  <a:srgbClr val="23312C"/>
                </a:solidFill>
                <a:latin typeface="DejaVu Sans"/>
                <a:ea typeface="DejaVu Sans"/>
                <a:cs typeface="DejaVu Sans"/>
              </a:rPr>
              <a:t>Base de datos y acceso por roles</a:t>
            </a:r>
          </a:p>
          <a:p xmlns:a="http://schemas.openxmlformats.org/drawingml/2006/main">
            <a:r>
              <a:t/>
            </a:r>
          </a:p>
          <a:p xmlns:a="http://schemas.openxmlformats.org/drawingml/2006/main">
            <a:pPr>
              <a:defRPr sz="2025" b="0">
                <a:solidFill>
                  <a:srgbClr val="23312C"/>
                </a:solidFill>
                <a:latin typeface="DejaVu Sans"/>
                <a:ea typeface="DejaVu Sans"/>
                <a:cs typeface="DejaVu Sans"/>
              </a:defRPr>
            </a:pPr>
            <a:r>
              <a:rPr sz="2025" b="0">
                <a:solidFill>
                  <a:srgbClr val="23312C"/>
                </a:solidFill>
                <a:latin typeface="DejaVu Sans"/>
                <a:ea typeface="DejaVu Sans"/>
                <a:cs typeface="DejaVu Sans"/>
              </a:rPr>
              <a:t>Integración entre tienda y panel</a:t>
            </a:r>
          </a:p>
          <a:p xmlns:a="http://schemas.openxmlformats.org/drawingml/2006/main">
            <a:r>
              <a:t/>
            </a:r>
          </a:p>
          <a:p xmlns:a="http://schemas.openxmlformats.org/drawingml/2006/main">
            <a:pPr>
              <a:defRPr sz="2025" b="0">
                <a:solidFill>
                  <a:srgbClr val="23312C"/>
                </a:solidFill>
                <a:latin typeface="DejaVu Sans"/>
                <a:ea typeface="DejaVu Sans"/>
                <a:cs typeface="DejaVu Sans"/>
              </a:defRPr>
            </a:pPr>
            <a:r>
              <a:rPr sz="2025" b="0">
                <a:solidFill>
                  <a:srgbClr val="23312C"/>
                </a:solidFill>
                <a:latin typeface="DejaVu Sans"/>
                <a:ea typeface="DejaVu Sans"/>
                <a:cs typeface="DejaVu Sans"/>
              </a:rPr>
              <a:t>Citas, fichas y avisos de la ERS</a:t>
            </a:r>
          </a:p>
        </p:txBody>
      </p:sp>
      <p:sp>
        <p:nvSpPr>
          <p:cNvPr id="7" name="El despliegue completo en AWS con Docker tamb">
            <a:extLst xmlns:a="http://schemas.openxmlformats.org/drawingml/2006/main">
              <a:ext uri="{FF2B5EF4-FFF2-40B4-BE49-F238E27FC236}">
                <a16:creationId xmlns:a16="http://schemas.microsoft.com/office/drawing/2014/main" id="{C5D845DD-9B30-4060-B016-6FFC46473A66}"/>
              </a:ext>
            </a:extLst>
          </p:cNvPr>
          <p:cNvSpPr>
            <a:spLocks xmlns:a="http://schemas.openxmlformats.org/drawingml/2006/main" noGrp="1"/>
          </p:cNvSpPr>
          <p:nvPr/>
        </p:nvSpPr>
        <p:spPr>
          <a:xfrm xmlns:a="http://schemas.openxmlformats.org/drawingml/2006/main">
            <a:off x="685800" y="5981700"/>
            <a:ext cx="10572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5A6B64"/>
                </a:solidFill>
                <a:latin typeface="DejaVu Sans"/>
                <a:ea typeface="DejaVu Sans"/>
                <a:cs typeface="DejaVu Sans"/>
              </a:defRPr>
            </a:pPr>
            <a:r>
              <a:rPr sz="1500" b="0">
                <a:solidFill>
                  <a:srgbClr val="5A6B64"/>
                </a:solidFill>
                <a:latin typeface="DejaVu Sans"/>
                <a:ea typeface="DejaVu Sans"/>
                <a:cs typeface="DejaVu Sans"/>
              </a:rPr>
              <a:t>El despliegue completo en AWS con Docker también forma parte de la etapa técnica pendiente.</a:t>
            </a:r>
          </a:p>
        </p:txBody>
      </p:sp>
    </p:spTree>
    <p:extLst>
      <p:ext uri="{BB962C8B-B14F-4D97-AF65-F5344CB8AC3E}">
        <p14:creationId xmlns:p14="http://schemas.microsoft.com/office/powerpoint/2010/main" val="887087867"/>
      </p:ext>
    </p:extLst>
  </p:cSld>
</p:sld>
</file>

<file path=ppt/slides/slide11.xml><?xml version="1.0" encoding="utf-8"?>
<p:sld xmlns:p="http://schemas.openxmlformats.org/presentationml/2006/main">
  <p:cSld>
    <p:bg>
      <p:bgPr>
        <a:solidFill xmlns:a="http://schemas.openxmlformats.org/drawingml/2006/main">
          <a:srgbClr val="F7F9F8"/>
        </a:solidFill>
      </p:bgPr>
    </p:bg>
    <p:spTree>
      <p:nvGrpSpPr>
        <p:cNvPr id="1" name=""/>
        <p:cNvGrpSpPr/>
        <p:nvPr/>
      </p:nvGrpSpPr>
      <p:grpSpPr>
        <a:xfrm xmlns:a="http://schemas.openxmlformats.org/drawingml/2006/main"/>
      </p:grpSpPr>
      <p:sp>
        <p:nvSpPr>
          <p:cNvPr id="15" name="Demostración del prototipo">
            <a:extLst xmlns:a="http://schemas.openxmlformats.org/drawingml/2006/main">
              <a:ext uri="{FF2B5EF4-FFF2-40B4-BE49-F238E27FC236}">
                <a16:creationId xmlns:a16="http://schemas.microsoft.com/office/drawing/2014/main" id="{F5612ECA-C8DB-4D2B-84F3-EBA3488F3240}"/>
              </a:ext>
            </a:extLst>
          </p:cNvPr>
          <p:cNvSpPr>
            <a:spLocks xmlns:a="http://schemas.openxmlformats.org/drawingml/2006/main" noGrp="1"/>
          </p:cNvSpPr>
          <p:nvPr/>
        </p:nvSpPr>
        <p:spPr>
          <a:xfrm xmlns:a="http://schemas.openxmlformats.org/drawingml/2006/main">
            <a:off x="647700" y="457200"/>
            <a:ext cx="108966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205942"/>
                </a:solidFill>
                <a:latin typeface="DejaVu Sans"/>
                <a:ea typeface="DejaVu Sans"/>
                <a:cs typeface="DejaVu Sans"/>
              </a:defRPr>
            </a:pPr>
            <a:r>
              <a:rPr sz="3300" b="1">
                <a:solidFill>
                  <a:srgbClr val="205942"/>
                </a:solidFill>
                <a:latin typeface="DejaVu Sans"/>
                <a:ea typeface="DejaVu Sans"/>
                <a:cs typeface="DejaVu Sans"/>
              </a:rPr>
              <a:t>Demostración del prototipo</a:t>
            </a:r>
          </a:p>
        </p:txBody>
      </p:sp>
      <p:sp>
        <p:nvSpPr>
          <p:cNvPr id="2" name="11">
            <a:extLst xmlns:a="http://schemas.openxmlformats.org/drawingml/2006/main">
              <a:ext uri="{FF2B5EF4-FFF2-40B4-BE49-F238E27FC236}">
                <a16:creationId xmlns:a16="http://schemas.microsoft.com/office/drawing/2014/main" id="{066395C2-B820-4323-8306-4C1E18C9D114}"/>
              </a:ext>
            </a:extLst>
          </p:cNvPr>
          <p:cNvSpPr>
            <a:spLocks xmlns:a="http://schemas.openxmlformats.org/drawingml/2006/main" noGrp="1"/>
          </p:cNvSpPr>
          <p:nvPr/>
        </p:nvSpPr>
        <p:spPr>
          <a:xfrm xmlns:a="http://schemas.openxmlformats.org/drawingml/2006/main">
            <a:off x="11144250" y="6400800"/>
            <a:ext cx="419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A6B64"/>
                </a:solidFill>
                <a:latin typeface="DejaVu Sans"/>
                <a:ea typeface="DejaVu Sans"/>
                <a:cs typeface="DejaVu Sans"/>
              </a:defRPr>
            </a:pPr>
            <a:r>
              <a:rPr sz="1275" b="0">
                <a:solidFill>
                  <a:srgbClr val="5A6B64"/>
                </a:solidFill>
                <a:latin typeface="DejaVu Sans"/>
                <a:ea typeface="DejaVu Sans"/>
                <a:cs typeface="DejaVu Sans"/>
              </a:rPr>
              <a:t>11</a:t>
            </a:r>
          </a:p>
        </p:txBody>
      </p:sp>
      <p:sp>
        <p:nvSpPr>
          <p:cNvPr id="3" name="01">
            <a:extLst xmlns:a="http://schemas.openxmlformats.org/drawingml/2006/main">
              <a:ext uri="{FF2B5EF4-FFF2-40B4-BE49-F238E27FC236}">
                <a16:creationId xmlns:a16="http://schemas.microsoft.com/office/drawing/2014/main" id="{6845BED8-0669-43CD-B975-9FE18317CA24}"/>
              </a:ext>
            </a:extLst>
          </p:cNvPr>
          <p:cNvSpPr>
            <a:spLocks xmlns:a="http://schemas.openxmlformats.org/drawingml/2006/main" noGrp="1"/>
          </p:cNvSpPr>
          <p:nvPr/>
        </p:nvSpPr>
        <p:spPr>
          <a:xfrm xmlns:a="http://schemas.openxmlformats.org/drawingml/2006/main">
            <a:off x="685800" y="1809750"/>
            <a:ext cx="7905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150" b="1">
                <a:solidFill>
                  <a:srgbClr val="205942"/>
                </a:solidFill>
                <a:latin typeface="DejaVu Sans"/>
                <a:ea typeface="DejaVu Sans"/>
                <a:cs typeface="DejaVu Sans"/>
              </a:defRPr>
            </a:pPr>
            <a:r>
              <a:rPr sz="3150" b="1">
                <a:solidFill>
                  <a:srgbClr val="205942"/>
                </a:solidFill>
                <a:latin typeface="DejaVu Sans"/>
                <a:ea typeface="DejaVu Sans"/>
                <a:cs typeface="DejaVu Sans"/>
              </a:rPr>
              <a:t>01</a:t>
            </a:r>
          </a:p>
        </p:txBody>
      </p:sp>
      <p:sp>
        <p:nvSpPr>
          <p:cNvPr id="4" name="Explorar el catálogo">
            <a:extLst xmlns:a="http://schemas.openxmlformats.org/drawingml/2006/main">
              <a:ext uri="{FF2B5EF4-FFF2-40B4-BE49-F238E27FC236}">
                <a16:creationId xmlns:a16="http://schemas.microsoft.com/office/drawing/2014/main" id="{2F5030C4-F381-4061-96EF-D301FF8EEB6F}"/>
              </a:ext>
            </a:extLst>
          </p:cNvPr>
          <p:cNvSpPr>
            <a:spLocks xmlns:a="http://schemas.openxmlformats.org/drawingml/2006/main" noGrp="1"/>
          </p:cNvSpPr>
          <p:nvPr/>
        </p:nvSpPr>
        <p:spPr>
          <a:xfrm xmlns:a="http://schemas.openxmlformats.org/drawingml/2006/main">
            <a:off x="1809750" y="1809750"/>
            <a:ext cx="96678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205942"/>
                </a:solidFill>
                <a:latin typeface="DejaVu Sans"/>
                <a:ea typeface="DejaVu Sans"/>
                <a:cs typeface="DejaVu Sans"/>
              </a:defRPr>
            </a:pPr>
            <a:r>
              <a:rPr sz="2250" b="1">
                <a:solidFill>
                  <a:srgbClr val="205942"/>
                </a:solidFill>
                <a:latin typeface="DejaVu Sans"/>
                <a:ea typeface="DejaVu Sans"/>
                <a:cs typeface="DejaVu Sans"/>
              </a:rPr>
              <a:t>Explorar el catálogo</a:t>
            </a:r>
          </a:p>
        </p:txBody>
      </p:sp>
      <p:sp>
        <p:nvSpPr>
          <p:cNvPr id="5" name="Filtrar una categoría y abrir un producto.">
            <a:extLst xmlns:a="http://schemas.openxmlformats.org/drawingml/2006/main">
              <a:ext uri="{FF2B5EF4-FFF2-40B4-BE49-F238E27FC236}">
                <a16:creationId xmlns:a16="http://schemas.microsoft.com/office/drawing/2014/main" id="{C163E68A-F810-4E01-ACEF-82ED57225550}"/>
              </a:ext>
            </a:extLst>
          </p:cNvPr>
          <p:cNvSpPr>
            <a:spLocks xmlns:a="http://schemas.openxmlformats.org/drawingml/2006/main" noGrp="1"/>
          </p:cNvSpPr>
          <p:nvPr/>
        </p:nvSpPr>
        <p:spPr>
          <a:xfrm xmlns:a="http://schemas.openxmlformats.org/drawingml/2006/main">
            <a:off x="1809750" y="2247900"/>
            <a:ext cx="9667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23312C"/>
                </a:solidFill>
                <a:latin typeface="DejaVu Sans"/>
                <a:ea typeface="DejaVu Sans"/>
                <a:cs typeface="DejaVu Sans"/>
              </a:defRPr>
            </a:pPr>
            <a:r>
              <a:rPr sz="1875" b="0">
                <a:solidFill>
                  <a:srgbClr val="23312C"/>
                </a:solidFill>
                <a:latin typeface="DejaVu Sans"/>
                <a:ea typeface="DejaVu Sans"/>
                <a:cs typeface="DejaVu Sans"/>
              </a:rPr>
              <a:t>Filtrar una categoría y abrir un producto.</a:t>
            </a:r>
          </a:p>
        </p:txBody>
      </p:sp>
      <p:sp>
        <p:nvSpPr>
          <p:cNvPr id="6" name="02">
            <a:extLst xmlns:a="http://schemas.openxmlformats.org/drawingml/2006/main">
              <a:ext uri="{FF2B5EF4-FFF2-40B4-BE49-F238E27FC236}">
                <a16:creationId xmlns:a16="http://schemas.microsoft.com/office/drawing/2014/main" id="{5CBC894D-4555-4B03-A08F-BA3D59EBBB55}"/>
              </a:ext>
            </a:extLst>
          </p:cNvPr>
          <p:cNvSpPr>
            <a:spLocks xmlns:a="http://schemas.openxmlformats.org/drawingml/2006/main" noGrp="1"/>
          </p:cNvSpPr>
          <p:nvPr/>
        </p:nvSpPr>
        <p:spPr>
          <a:xfrm xmlns:a="http://schemas.openxmlformats.org/drawingml/2006/main">
            <a:off x="685800" y="2828925"/>
            <a:ext cx="7905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150" b="1">
                <a:solidFill>
                  <a:srgbClr val="205942"/>
                </a:solidFill>
                <a:latin typeface="DejaVu Sans"/>
                <a:ea typeface="DejaVu Sans"/>
                <a:cs typeface="DejaVu Sans"/>
              </a:defRPr>
            </a:pPr>
            <a:r>
              <a:rPr sz="3150" b="1">
                <a:solidFill>
                  <a:srgbClr val="205942"/>
                </a:solidFill>
                <a:latin typeface="DejaVu Sans"/>
                <a:ea typeface="DejaVu Sans"/>
                <a:cs typeface="DejaVu Sans"/>
              </a:rPr>
              <a:t>02</a:t>
            </a:r>
          </a:p>
        </p:txBody>
      </p:sp>
      <p:sp>
        <p:nvSpPr>
          <p:cNvPr id="7" name="Preparar una compra">
            <a:extLst xmlns:a="http://schemas.openxmlformats.org/drawingml/2006/main">
              <a:ext uri="{FF2B5EF4-FFF2-40B4-BE49-F238E27FC236}">
                <a16:creationId xmlns:a16="http://schemas.microsoft.com/office/drawing/2014/main" id="{15B36418-C49C-4D6D-A398-1DCA9BFBBDB2}"/>
              </a:ext>
            </a:extLst>
          </p:cNvPr>
          <p:cNvSpPr>
            <a:spLocks xmlns:a="http://schemas.openxmlformats.org/drawingml/2006/main" noGrp="1"/>
          </p:cNvSpPr>
          <p:nvPr/>
        </p:nvSpPr>
        <p:spPr>
          <a:xfrm xmlns:a="http://schemas.openxmlformats.org/drawingml/2006/main">
            <a:off x="1809750" y="2828925"/>
            <a:ext cx="96678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205942"/>
                </a:solidFill>
                <a:latin typeface="DejaVu Sans"/>
                <a:ea typeface="DejaVu Sans"/>
                <a:cs typeface="DejaVu Sans"/>
              </a:defRPr>
            </a:pPr>
            <a:r>
              <a:rPr sz="2250" b="1">
                <a:solidFill>
                  <a:srgbClr val="205942"/>
                </a:solidFill>
                <a:latin typeface="DejaVu Sans"/>
                <a:ea typeface="DejaVu Sans"/>
                <a:cs typeface="DejaVu Sans"/>
              </a:rPr>
              <a:t>Preparar una compra</a:t>
            </a:r>
          </a:p>
        </p:txBody>
      </p:sp>
      <p:sp>
        <p:nvSpPr>
          <p:cNvPr id="8" name="Agregar al carrito y cambiar la cantidad.">
            <a:extLst xmlns:a="http://schemas.openxmlformats.org/drawingml/2006/main">
              <a:ext uri="{FF2B5EF4-FFF2-40B4-BE49-F238E27FC236}">
                <a16:creationId xmlns:a16="http://schemas.microsoft.com/office/drawing/2014/main" id="{5C7675AA-3F5E-4B4E-8863-9193B02953FF}"/>
              </a:ext>
            </a:extLst>
          </p:cNvPr>
          <p:cNvSpPr>
            <a:spLocks xmlns:a="http://schemas.openxmlformats.org/drawingml/2006/main" noGrp="1"/>
          </p:cNvSpPr>
          <p:nvPr/>
        </p:nvSpPr>
        <p:spPr>
          <a:xfrm xmlns:a="http://schemas.openxmlformats.org/drawingml/2006/main">
            <a:off x="1809750" y="3267075"/>
            <a:ext cx="9667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23312C"/>
                </a:solidFill>
                <a:latin typeface="DejaVu Sans"/>
                <a:ea typeface="DejaVu Sans"/>
                <a:cs typeface="DejaVu Sans"/>
              </a:defRPr>
            </a:pPr>
            <a:r>
              <a:rPr sz="1875" b="0">
                <a:solidFill>
                  <a:srgbClr val="23312C"/>
                </a:solidFill>
                <a:latin typeface="DejaVu Sans"/>
                <a:ea typeface="DejaVu Sans"/>
                <a:cs typeface="DejaVu Sans"/>
              </a:rPr>
              <a:t>Agregar al carrito y cambiar la cantidad.</a:t>
            </a:r>
          </a:p>
        </p:txBody>
      </p:sp>
      <p:sp>
        <p:nvSpPr>
          <p:cNvPr id="9" name="03">
            <a:extLst xmlns:a="http://schemas.openxmlformats.org/drawingml/2006/main">
              <a:ext uri="{FF2B5EF4-FFF2-40B4-BE49-F238E27FC236}">
                <a16:creationId xmlns:a16="http://schemas.microsoft.com/office/drawing/2014/main" id="{7749AF3C-EA88-4AA7-8659-B19E60B5DA0C}"/>
              </a:ext>
            </a:extLst>
          </p:cNvPr>
          <p:cNvSpPr>
            <a:spLocks xmlns:a="http://schemas.openxmlformats.org/drawingml/2006/main" noGrp="1"/>
          </p:cNvSpPr>
          <p:nvPr/>
        </p:nvSpPr>
        <p:spPr>
          <a:xfrm xmlns:a="http://schemas.openxmlformats.org/drawingml/2006/main">
            <a:off x="685800" y="3848100"/>
            <a:ext cx="7905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150" b="1">
                <a:solidFill>
                  <a:srgbClr val="205942"/>
                </a:solidFill>
                <a:latin typeface="DejaVu Sans"/>
                <a:ea typeface="DejaVu Sans"/>
                <a:cs typeface="DejaVu Sans"/>
              </a:defRPr>
            </a:pPr>
            <a:r>
              <a:rPr sz="3150" b="1">
                <a:solidFill>
                  <a:srgbClr val="205942"/>
                </a:solidFill>
                <a:latin typeface="DejaVu Sans"/>
                <a:ea typeface="DejaVu Sans"/>
                <a:cs typeface="DejaVu Sans"/>
              </a:rPr>
              <a:t>03</a:t>
            </a:r>
          </a:p>
        </p:txBody>
      </p:sp>
      <p:sp>
        <p:nvSpPr>
          <p:cNvPr id="10" name="Corregir un formulario">
            <a:extLst xmlns:a="http://schemas.openxmlformats.org/drawingml/2006/main">
              <a:ext uri="{FF2B5EF4-FFF2-40B4-BE49-F238E27FC236}">
                <a16:creationId xmlns:a16="http://schemas.microsoft.com/office/drawing/2014/main" id="{5902A3B3-0956-4E00-9FF7-CA968288F6BA}"/>
              </a:ext>
            </a:extLst>
          </p:cNvPr>
          <p:cNvSpPr>
            <a:spLocks xmlns:a="http://schemas.openxmlformats.org/drawingml/2006/main" noGrp="1"/>
          </p:cNvSpPr>
          <p:nvPr/>
        </p:nvSpPr>
        <p:spPr>
          <a:xfrm xmlns:a="http://schemas.openxmlformats.org/drawingml/2006/main">
            <a:off x="1809750" y="3848100"/>
            <a:ext cx="96678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205942"/>
                </a:solidFill>
                <a:latin typeface="DejaVu Sans"/>
                <a:ea typeface="DejaVu Sans"/>
                <a:cs typeface="DejaVu Sans"/>
              </a:defRPr>
            </a:pPr>
            <a:r>
              <a:rPr sz="2250" b="1">
                <a:solidFill>
                  <a:srgbClr val="205942"/>
                </a:solidFill>
                <a:latin typeface="DejaVu Sans"/>
                <a:ea typeface="DejaVu Sans"/>
                <a:cs typeface="DejaVu Sans"/>
              </a:rPr>
              <a:t>Corregir un formulario</a:t>
            </a:r>
          </a:p>
        </p:txBody>
      </p:sp>
      <p:sp>
        <p:nvSpPr>
          <p:cNvPr id="11" name="Mostrar un error y completar el dato.">
            <a:extLst xmlns:a="http://schemas.openxmlformats.org/drawingml/2006/main">
              <a:ext uri="{FF2B5EF4-FFF2-40B4-BE49-F238E27FC236}">
                <a16:creationId xmlns:a16="http://schemas.microsoft.com/office/drawing/2014/main" id="{8AB213CC-C754-4640-8901-98620F824003}"/>
              </a:ext>
            </a:extLst>
          </p:cNvPr>
          <p:cNvSpPr>
            <a:spLocks xmlns:a="http://schemas.openxmlformats.org/drawingml/2006/main" noGrp="1"/>
          </p:cNvSpPr>
          <p:nvPr/>
        </p:nvSpPr>
        <p:spPr>
          <a:xfrm xmlns:a="http://schemas.openxmlformats.org/drawingml/2006/main">
            <a:off x="1809750" y="4286250"/>
            <a:ext cx="9667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23312C"/>
                </a:solidFill>
                <a:latin typeface="DejaVu Sans"/>
                <a:ea typeface="DejaVu Sans"/>
                <a:cs typeface="DejaVu Sans"/>
              </a:defRPr>
            </a:pPr>
            <a:r>
              <a:rPr sz="1875" b="0">
                <a:solidFill>
                  <a:srgbClr val="23312C"/>
                </a:solidFill>
                <a:latin typeface="DejaVu Sans"/>
                <a:ea typeface="DejaVu Sans"/>
                <a:cs typeface="DejaVu Sans"/>
              </a:rPr>
              <a:t>Mostrar un error y completar el dato.</a:t>
            </a:r>
          </a:p>
        </p:txBody>
      </p:sp>
      <p:sp>
        <p:nvSpPr>
          <p:cNvPr id="12" name="04">
            <a:extLst xmlns:a="http://schemas.openxmlformats.org/drawingml/2006/main">
              <a:ext uri="{FF2B5EF4-FFF2-40B4-BE49-F238E27FC236}">
                <a16:creationId xmlns:a16="http://schemas.microsoft.com/office/drawing/2014/main" id="{194B23DF-6EA3-4D39-9F27-52996080295F}"/>
              </a:ext>
            </a:extLst>
          </p:cNvPr>
          <p:cNvSpPr>
            <a:spLocks xmlns:a="http://schemas.openxmlformats.org/drawingml/2006/main" noGrp="1"/>
          </p:cNvSpPr>
          <p:nvPr/>
        </p:nvSpPr>
        <p:spPr>
          <a:xfrm xmlns:a="http://schemas.openxmlformats.org/drawingml/2006/main">
            <a:off x="685800" y="4867275"/>
            <a:ext cx="7905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150" b="1">
                <a:solidFill>
                  <a:srgbClr val="205942"/>
                </a:solidFill>
                <a:latin typeface="DejaVu Sans"/>
                <a:ea typeface="DejaVu Sans"/>
                <a:cs typeface="DejaVu Sans"/>
              </a:defRPr>
            </a:pPr>
            <a:r>
              <a:rPr sz="3150" b="1">
                <a:solidFill>
                  <a:srgbClr val="205942"/>
                </a:solidFill>
                <a:latin typeface="DejaVu Sans"/>
                <a:ea typeface="DejaVu Sans"/>
                <a:cs typeface="DejaVu Sans"/>
              </a:rPr>
              <a:t>04</a:t>
            </a:r>
          </a:p>
        </p:txBody>
      </p:sp>
      <p:sp>
        <p:nvSpPr>
          <p:cNvPr id="13" name="Revisar la administración">
            <a:extLst xmlns:a="http://schemas.openxmlformats.org/drawingml/2006/main">
              <a:ext uri="{FF2B5EF4-FFF2-40B4-BE49-F238E27FC236}">
                <a16:creationId xmlns:a16="http://schemas.microsoft.com/office/drawing/2014/main" id="{32F408D6-F07E-491C-8114-A2AE1AA6C3B7}"/>
              </a:ext>
            </a:extLst>
          </p:cNvPr>
          <p:cNvSpPr>
            <a:spLocks xmlns:a="http://schemas.openxmlformats.org/drawingml/2006/main" noGrp="1"/>
          </p:cNvSpPr>
          <p:nvPr/>
        </p:nvSpPr>
        <p:spPr>
          <a:xfrm xmlns:a="http://schemas.openxmlformats.org/drawingml/2006/main">
            <a:off x="1809750" y="4867275"/>
            <a:ext cx="96678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205942"/>
                </a:solidFill>
                <a:latin typeface="DejaVu Sans"/>
                <a:ea typeface="DejaVu Sans"/>
                <a:cs typeface="DejaVu Sans"/>
              </a:defRPr>
            </a:pPr>
            <a:r>
              <a:rPr sz="2250" b="1">
                <a:solidFill>
                  <a:srgbClr val="205942"/>
                </a:solidFill>
                <a:latin typeface="DejaVu Sans"/>
                <a:ea typeface="DejaVu Sans"/>
                <a:cs typeface="DejaVu Sans"/>
              </a:rPr>
              <a:t>Revisar la administración</a:t>
            </a:r>
          </a:p>
        </p:txBody>
      </p:sp>
      <p:sp>
        <p:nvSpPr>
          <p:cNvPr id="14" name="Editar un producto y consultar el stock.">
            <a:extLst xmlns:a="http://schemas.openxmlformats.org/drawingml/2006/main">
              <a:ext uri="{FF2B5EF4-FFF2-40B4-BE49-F238E27FC236}">
                <a16:creationId xmlns:a16="http://schemas.microsoft.com/office/drawing/2014/main" id="{CDA13334-6088-444D-A0F8-65A6606C006F}"/>
              </a:ext>
            </a:extLst>
          </p:cNvPr>
          <p:cNvSpPr>
            <a:spLocks xmlns:a="http://schemas.openxmlformats.org/drawingml/2006/main" noGrp="1"/>
          </p:cNvSpPr>
          <p:nvPr/>
        </p:nvSpPr>
        <p:spPr>
          <a:xfrm xmlns:a="http://schemas.openxmlformats.org/drawingml/2006/main">
            <a:off x="1809750" y="5305425"/>
            <a:ext cx="9667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23312C"/>
                </a:solidFill>
                <a:latin typeface="DejaVu Sans"/>
                <a:ea typeface="DejaVu Sans"/>
                <a:cs typeface="DejaVu Sans"/>
              </a:defRPr>
            </a:pPr>
            <a:r>
              <a:rPr sz="1875" b="0">
                <a:solidFill>
                  <a:srgbClr val="23312C"/>
                </a:solidFill>
                <a:latin typeface="DejaVu Sans"/>
                <a:ea typeface="DejaVu Sans"/>
                <a:cs typeface="DejaVu Sans"/>
              </a:rPr>
              <a:t>Editar un producto y consultar el stock.</a:t>
            </a:r>
          </a:p>
        </p:txBody>
      </p:sp>
    </p:spTree>
    <p:extLst>
      <p:ext uri="{BB962C8B-B14F-4D97-AF65-F5344CB8AC3E}">
        <p14:creationId xmlns:p14="http://schemas.microsoft.com/office/powerpoint/2010/main" val="386809025"/>
      </p:ext>
    </p:extLst>
  </p:cSld>
</p:sld>
</file>

<file path=ppt/slides/slide12.xml><?xml version="1.0" encoding="utf-8"?>
<p:sld xmlns:p="http://schemas.openxmlformats.org/presentationml/2006/main">
  <p:cSld>
    <p:bg>
      <p:bgPr>
        <a:solidFill xmlns:a="http://schemas.openxmlformats.org/drawingml/2006/main">
          <a:srgbClr val="F7F9F8"/>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0bb112fa67284784"/>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Nuestra propuesta&#10;para San Marcos">
            <a:extLst xmlns:a="http://schemas.openxmlformats.org/drawingml/2006/main">
              <a:ext uri="{FF2B5EF4-FFF2-40B4-BE49-F238E27FC236}">
                <a16:creationId xmlns:a16="http://schemas.microsoft.com/office/drawing/2014/main" id="{763C8565-D724-4963-9C7B-9E9A2394AEF0}"/>
              </a:ext>
            </a:extLst>
          </p:cNvPr>
          <p:cNvSpPr>
            <a:spLocks xmlns:a="http://schemas.openxmlformats.org/drawingml/2006/main" noGrp="1"/>
          </p:cNvSpPr>
          <p:nvPr/>
        </p:nvSpPr>
        <p:spPr>
          <a:xfrm xmlns:a="http://schemas.openxmlformats.org/drawingml/2006/main">
            <a:off x="638175" y="1238250"/>
            <a:ext cx="62865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125" b="1">
                <a:solidFill>
                  <a:srgbClr val="205942"/>
                </a:solidFill>
                <a:latin typeface="DejaVu Sans"/>
                <a:ea typeface="DejaVu Sans"/>
                <a:cs typeface="DejaVu Sans"/>
              </a:defRPr>
            </a:pPr>
            <a:r>
              <a:rPr sz="4125" b="1">
                <a:solidFill>
                  <a:srgbClr val="205942"/>
                </a:solidFill>
                <a:latin typeface="DejaVu Sans"/>
                <a:ea typeface="DejaVu Sans"/>
                <a:cs typeface="DejaVu Sans"/>
              </a:rPr>
              <a:t>Nuestra propuesta</a:t>
            </a:r>
          </a:p>
          <a:p xmlns:a="http://schemas.openxmlformats.org/drawingml/2006/main">
            <a:pPr>
              <a:defRPr sz="4125" b="1">
                <a:solidFill>
                  <a:srgbClr val="205942"/>
                </a:solidFill>
                <a:latin typeface="DejaVu Sans"/>
                <a:ea typeface="DejaVu Sans"/>
                <a:cs typeface="DejaVu Sans"/>
              </a:defRPr>
            </a:pPr>
            <a:r>
              <a:rPr sz="4125" b="1">
                <a:solidFill>
                  <a:srgbClr val="205942"/>
                </a:solidFill>
                <a:latin typeface="DejaVu Sans"/>
                <a:ea typeface="DejaVu Sans"/>
                <a:cs typeface="DejaVu Sans"/>
              </a:rPr>
              <a:t>para San Marcos</a:t>
            </a:r>
          </a:p>
        </p:txBody>
      </p:sp>
      <p:sp>
        <p:nvSpPr>
          <p:cNvPr id="3" name="Validar esta experiencia con la clínica&#10;y con">
            <a:extLst xmlns:a="http://schemas.openxmlformats.org/drawingml/2006/main">
              <a:ext uri="{FF2B5EF4-FFF2-40B4-BE49-F238E27FC236}">
                <a16:creationId xmlns:a16="http://schemas.microsoft.com/office/drawing/2014/main" id="{30BFE988-089C-4AD6-AC06-BFF94E443AA7}"/>
              </a:ext>
            </a:extLst>
          </p:cNvPr>
          <p:cNvSpPr>
            <a:spLocks xmlns:a="http://schemas.openxmlformats.org/drawingml/2006/main" noGrp="1"/>
          </p:cNvSpPr>
          <p:nvPr/>
        </p:nvSpPr>
        <p:spPr>
          <a:xfrm xmlns:a="http://schemas.openxmlformats.org/drawingml/2006/main">
            <a:off x="685800" y="3219450"/>
            <a:ext cx="6143625"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23312C"/>
                </a:solidFill>
                <a:latin typeface="DejaVu Sans"/>
                <a:ea typeface="DejaVu Sans"/>
                <a:cs typeface="DejaVu Sans"/>
              </a:defRPr>
            </a:pPr>
            <a:r>
              <a:rPr sz="2250" b="0">
                <a:solidFill>
                  <a:srgbClr val="23312C"/>
                </a:solidFill>
                <a:latin typeface="DejaVu Sans"/>
                <a:ea typeface="DejaVu Sans"/>
                <a:cs typeface="DejaVu Sans"/>
              </a:rPr>
              <a:t>Validar esta experiencia con la clínica</a:t>
            </a:r>
          </a:p>
          <a:p xmlns:a="http://schemas.openxmlformats.org/drawingml/2006/main">
            <a:pPr>
              <a:defRPr sz="2250" b="0">
                <a:solidFill>
                  <a:srgbClr val="23312C"/>
                </a:solidFill>
                <a:latin typeface="DejaVu Sans"/>
                <a:ea typeface="DejaVu Sans"/>
                <a:cs typeface="DejaVu Sans"/>
              </a:defRPr>
            </a:pPr>
            <a:r>
              <a:rPr sz="2250" b="0">
                <a:solidFill>
                  <a:srgbClr val="23312C"/>
                </a:solidFill>
                <a:latin typeface="DejaVu Sans"/>
                <a:ea typeface="DejaVu Sans"/>
                <a:cs typeface="DejaVu Sans"/>
              </a:rPr>
              <a:t>y convertirla en un canal digital</a:t>
            </a:r>
          </a:p>
          <a:p xmlns:a="http://schemas.openxmlformats.org/drawingml/2006/main">
            <a:pPr>
              <a:defRPr sz="2250" b="0">
                <a:solidFill>
                  <a:srgbClr val="23312C"/>
                </a:solidFill>
                <a:latin typeface="DejaVu Sans"/>
                <a:ea typeface="DejaVu Sans"/>
                <a:cs typeface="DejaVu Sans"/>
              </a:defRPr>
            </a:pPr>
            <a:r>
              <a:rPr sz="2250" b="0">
                <a:solidFill>
                  <a:srgbClr val="23312C"/>
                </a:solidFill>
                <a:latin typeface="DejaVu Sans"/>
                <a:ea typeface="DejaVu Sans"/>
                <a:cs typeface="DejaVu Sans"/>
              </a:rPr>
              <a:t>conectado a su operación.</a:t>
            </a:r>
          </a:p>
        </p:txBody>
      </p:sp>
      <p:sp>
        <p:nvSpPr>
          <p:cNvPr id="4" name="Catálogo y carrito como primer paso.&#10;Gestión ">
            <a:extLst xmlns:a="http://schemas.openxmlformats.org/drawingml/2006/main">
              <a:ext uri="{FF2B5EF4-FFF2-40B4-BE49-F238E27FC236}">
                <a16:creationId xmlns:a16="http://schemas.microsoft.com/office/drawing/2014/main" id="{EC14B257-1199-4B4E-9085-1C3134C011AF}"/>
              </a:ext>
            </a:extLst>
          </p:cNvPr>
          <p:cNvSpPr>
            <a:spLocks xmlns:a="http://schemas.openxmlformats.org/drawingml/2006/main" noGrp="1"/>
          </p:cNvSpPr>
          <p:nvPr/>
        </p:nvSpPr>
        <p:spPr>
          <a:xfrm xmlns:a="http://schemas.openxmlformats.org/drawingml/2006/main">
            <a:off x="685800" y="5057775"/>
            <a:ext cx="59531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1">
                <a:solidFill>
                  <a:srgbClr val="205942"/>
                </a:solidFill>
                <a:latin typeface="DejaVu Sans"/>
                <a:ea typeface="DejaVu Sans"/>
                <a:cs typeface="DejaVu Sans"/>
              </a:defRPr>
            </a:pPr>
            <a:r>
              <a:rPr sz="1800" b="1">
                <a:solidFill>
                  <a:srgbClr val="205942"/>
                </a:solidFill>
                <a:latin typeface="DejaVu Sans"/>
                <a:ea typeface="DejaVu Sans"/>
                <a:cs typeface="DejaVu Sans"/>
              </a:rPr>
              <a:t>Catálogo y carrito como primer paso.</a:t>
            </a:r>
          </a:p>
          <a:p xmlns:a="http://schemas.openxmlformats.org/drawingml/2006/main">
            <a:pPr>
              <a:defRPr sz="1800" b="1">
                <a:solidFill>
                  <a:srgbClr val="205942"/>
                </a:solidFill>
                <a:latin typeface="DejaVu Sans"/>
                <a:ea typeface="DejaVu Sans"/>
                <a:cs typeface="DejaVu Sans"/>
              </a:defRPr>
            </a:pPr>
            <a:r>
              <a:rPr sz="1800" b="1">
                <a:solidFill>
                  <a:srgbClr val="205942"/>
                </a:solidFill>
                <a:latin typeface="DejaVu Sans"/>
                <a:ea typeface="DejaVu Sans"/>
                <a:cs typeface="DejaVu Sans"/>
              </a:rPr>
              <a:t>Gestión clínica en la siguiente etapa.</a:t>
            </a:r>
          </a:p>
        </p:txBody>
      </p:sp>
      <p:sp>
        <p:nvSpPr>
          <p:cNvPr id="5" name="Gracias">
            <a:extLst xmlns:a="http://schemas.openxmlformats.org/drawingml/2006/main">
              <a:ext uri="{FF2B5EF4-FFF2-40B4-BE49-F238E27FC236}">
                <a16:creationId xmlns:a16="http://schemas.microsoft.com/office/drawing/2014/main" id="{089AB43F-3008-4AAA-901D-BC18CE72E127}"/>
              </a:ext>
            </a:extLst>
          </p:cNvPr>
          <p:cNvSpPr>
            <a:spLocks xmlns:a="http://schemas.openxmlformats.org/drawingml/2006/main" noGrp="1"/>
          </p:cNvSpPr>
          <p:nvPr/>
        </p:nvSpPr>
        <p:spPr>
          <a:xfrm xmlns:a="http://schemas.openxmlformats.org/drawingml/2006/main">
            <a:off x="685800" y="6115050"/>
            <a:ext cx="4191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205942"/>
                </a:solidFill>
                <a:latin typeface="DejaVu Sans"/>
                <a:ea typeface="DejaVu Sans"/>
                <a:cs typeface="DejaVu Sans"/>
              </a:defRPr>
            </a:pPr>
            <a:r>
              <a:rPr sz="2250" b="1">
                <a:solidFill>
                  <a:srgbClr val="205942"/>
                </a:solidFill>
                <a:latin typeface="DejaVu Sans"/>
                <a:ea typeface="DejaVu Sans"/>
                <a:cs typeface="DejaVu Sans"/>
              </a:rPr>
              <a:t>Gracias</a:t>
            </a:r>
          </a:p>
        </p:txBody>
      </p:sp>
    </p:spTree>
    <p:extLst>
      <p:ext uri="{BB962C8B-B14F-4D97-AF65-F5344CB8AC3E}">
        <p14:creationId xmlns:p14="http://schemas.microsoft.com/office/powerpoint/2010/main" val="65303706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2026-09-09T03:04:41.0300000Z</dcterms:created>
  <dcterms:modified xsi:type="dcterms:W3CDTF">2026-09-09T03:04:41.0300000Z</dcterms:modified>
</coreProperties>
</file>